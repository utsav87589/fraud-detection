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64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5EAA6-EBEA-4E25-BFF3-658DD9B5B814}" v="8" dt="2025-10-23T22:09:4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Kundu" userId="a21929a9d8c8b5d8" providerId="LiveId" clId="{51C4D88A-08BC-4A33-B158-7BBEBC2962C2}"/>
    <pc:docChg chg="undo custSel modSld">
      <pc:chgData name="Utsav Kundu" userId="a21929a9d8c8b5d8" providerId="LiveId" clId="{51C4D88A-08BC-4A33-B158-7BBEBC2962C2}" dt="2025-10-23T22:09:49.862" v="66" actId="27636"/>
      <pc:docMkLst>
        <pc:docMk/>
      </pc:docMkLst>
      <pc:sldChg chg="addSp delSp modSp mod setBg addAnim setClrOvrMap delDesignElem">
        <pc:chgData name="Utsav Kundu" userId="a21929a9d8c8b5d8" providerId="LiveId" clId="{51C4D88A-08BC-4A33-B158-7BBEBC2962C2}" dt="2025-10-23T22:07:45.763" v="23"/>
        <pc:sldMkLst>
          <pc:docMk/>
          <pc:sldMk cId="98168696" sldId="256"/>
        </pc:sldMkLst>
        <pc:spChg chg="mod or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2" creationId="{E8FBB73E-8382-A1CA-0F2D-A74B3C522D8E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3" creationId="{EF9E6010-D294-E6E1-00D8-6B07982787E1}"/>
          </ac:spMkLst>
        </pc:spChg>
        <pc:spChg chg="add del">
          <ac:chgData name="Utsav Kundu" userId="a21929a9d8c8b5d8" providerId="LiveId" clId="{51C4D88A-08BC-4A33-B158-7BBEBC2962C2}" dt="2025-10-23T22:05:57.549" v="13"/>
          <ac:spMkLst>
            <pc:docMk/>
            <pc:sldMk cId="98168696" sldId="256"/>
            <ac:spMk id="8" creationId="{27577DEC-D9A5-404D-9789-702F4319BEC8}"/>
          </ac:spMkLst>
        </pc:spChg>
        <pc:spChg chg="add del">
          <ac:chgData name="Utsav Kundu" userId="a21929a9d8c8b5d8" providerId="LiveId" clId="{51C4D88A-08BC-4A33-B158-7BBEBC2962C2}" dt="2025-10-23T22:05:25.986" v="1" actId="26606"/>
          <ac:spMkLst>
            <pc:docMk/>
            <pc:sldMk cId="98168696" sldId="256"/>
            <ac:spMk id="10" creationId="{5A7802B6-FF37-40CF-A7E2-6F2A0D9A91EF}"/>
          </ac:spMkLst>
        </pc:spChg>
        <pc:grpChg chg="add del">
          <ac:chgData name="Utsav Kundu" userId="a21929a9d8c8b5d8" providerId="LiveId" clId="{51C4D88A-08BC-4A33-B158-7BBEBC2962C2}" dt="2025-10-23T22:05:57.549" v="13"/>
          <ac:grpSpMkLst>
            <pc:docMk/>
            <pc:sldMk cId="98168696" sldId="256"/>
            <ac:grpSpMk id="20" creationId="{CEEA9366-CEA8-4F23-B065-4337F0D836FE}"/>
          </ac:grpSpMkLst>
        </pc:grpChg>
        <pc:picChg chg="add del">
          <ac:chgData name="Utsav Kundu" userId="a21929a9d8c8b5d8" providerId="LiveId" clId="{51C4D88A-08BC-4A33-B158-7BBEBC2962C2}" dt="2025-10-23T22:05:25.986" v="1" actId="26606"/>
          <ac:picMkLst>
            <pc:docMk/>
            <pc:sldMk cId="98168696" sldId="256"/>
            <ac:picMk id="7" creationId="{31EE7193-1169-F07C-C5F5-1F3196D60667}"/>
          </ac:picMkLst>
        </pc:picChg>
      </pc:sldChg>
      <pc:sldChg chg="modSp mod">
        <pc:chgData name="Utsav Kundu" userId="a21929a9d8c8b5d8" providerId="LiveId" clId="{51C4D88A-08BC-4A33-B158-7BBEBC2962C2}" dt="2025-10-23T22:09:49.862" v="66" actId="27636"/>
        <pc:sldMkLst>
          <pc:docMk/>
          <pc:sldMk cId="964144235" sldId="257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2" creationId="{CB1C079F-FB62-C923-6384-C256C8824E4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3" creationId="{131FCA20-8186-20E6-49D9-2FFA6D3C36AE}"/>
          </ac:spMkLst>
        </pc:spChg>
        <pc:spChg chg="mod">
          <ac:chgData name="Utsav Kundu" userId="a21929a9d8c8b5d8" providerId="LiveId" clId="{51C4D88A-08BC-4A33-B158-7BBEBC2962C2}" dt="2025-10-23T22:08:59.594" v="56"/>
          <ac:spMkLst>
            <pc:docMk/>
            <pc:sldMk cId="964144235" sldId="257"/>
            <ac:spMk id="4" creationId="{899A3F05-E640-0DBF-3070-4AF8467BEB3A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5" creationId="{1166A6B3-2A43-123C-1ACF-522D28C9AB9E}"/>
          </ac:spMkLst>
        </pc:spChg>
        <pc:spChg chg="mod">
          <ac:chgData name="Utsav Kundu" userId="a21929a9d8c8b5d8" providerId="LiveId" clId="{51C4D88A-08BC-4A33-B158-7BBEBC2962C2}" dt="2025-10-23T22:09:25.470" v="61" actId="27636"/>
          <ac:spMkLst>
            <pc:docMk/>
            <pc:sldMk cId="964144235" sldId="257"/>
            <ac:spMk id="6" creationId="{34E02B68-8E64-3114-82FC-D7BE036517B1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7" creationId="{A15B67EC-6A2A-80D3-5688-2809A2F5C130}"/>
          </ac:spMkLst>
        </pc:spChg>
        <pc:spChg chg="mod">
          <ac:chgData name="Utsav Kundu" userId="a21929a9d8c8b5d8" providerId="LiveId" clId="{51C4D88A-08BC-4A33-B158-7BBEBC2962C2}" dt="2025-10-23T22:09:49.862" v="66" actId="27636"/>
          <ac:spMkLst>
            <pc:docMk/>
            <pc:sldMk cId="964144235" sldId="257"/>
            <ac:spMk id="8" creationId="{9D383048-974F-36F2-D89E-94900C0F6D66}"/>
          </ac:spMkLst>
        </pc:spChg>
      </pc:sldChg>
      <pc:sldChg chg="modSp mod">
        <pc:chgData name="Utsav Kundu" userId="a21929a9d8c8b5d8" providerId="LiveId" clId="{51C4D88A-08BC-4A33-B158-7BBEBC2962C2}" dt="2025-10-23T22:07:45.890" v="26" actId="27636"/>
        <pc:sldMkLst>
          <pc:docMk/>
          <pc:sldMk cId="1541606462" sldId="259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541606462" sldId="259"/>
            <ac:spMk id="2" creationId="{F529C4DE-C7B2-4DAC-05B2-F02F7EE0E9B8}"/>
          </ac:spMkLst>
        </pc:spChg>
        <pc:spChg chg="mod">
          <ac:chgData name="Utsav Kundu" userId="a21929a9d8c8b5d8" providerId="LiveId" clId="{51C4D88A-08BC-4A33-B158-7BBEBC2962C2}" dt="2025-10-23T22:07:45.890" v="26" actId="27636"/>
          <ac:spMkLst>
            <pc:docMk/>
            <pc:sldMk cId="1541606462" sldId="259"/>
            <ac:spMk id="3" creationId="{333FC919-9E02-E1F3-514D-957F21DFD5D7}"/>
          </ac:spMkLst>
        </pc:spChg>
        <pc:picChg chg="mod">
          <ac:chgData name="Utsav Kundu" userId="a21929a9d8c8b5d8" providerId="LiveId" clId="{51C4D88A-08BC-4A33-B158-7BBEBC2962C2}" dt="2025-10-23T22:07:45.763" v="23"/>
          <ac:picMkLst>
            <pc:docMk/>
            <pc:sldMk cId="1541606462" sldId="259"/>
            <ac:picMk id="6" creationId="{3837F680-8EB6-552A-157A-80955F24C5BE}"/>
          </ac:picMkLst>
        </pc:picChg>
      </pc:sldChg>
      <pc:sldChg chg="modSp mod">
        <pc:chgData name="Utsav Kundu" userId="a21929a9d8c8b5d8" providerId="LiveId" clId="{51C4D88A-08BC-4A33-B158-7BBEBC2962C2}" dt="2025-10-23T22:07:45.912" v="29" actId="27636"/>
        <pc:sldMkLst>
          <pc:docMk/>
          <pc:sldMk cId="41123369" sldId="260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2" creationId="{4F0DC8D6-8DA0-CFAE-E5E6-DB845087C3D2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3" creationId="{ACC592D1-3A49-A3E9-988D-96E037A3C697}"/>
          </ac:spMkLst>
        </pc:spChg>
        <pc:spChg chg="mod">
          <ac:chgData name="Utsav Kundu" userId="a21929a9d8c8b5d8" providerId="LiveId" clId="{51C4D88A-08BC-4A33-B158-7BBEBC2962C2}" dt="2025-10-23T22:07:45.899" v="27" actId="27636"/>
          <ac:spMkLst>
            <pc:docMk/>
            <pc:sldMk cId="41123369" sldId="260"/>
            <ac:spMk id="4" creationId="{E7CD11EB-5B17-A120-70CD-F5FC7D55072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5" creationId="{1FF55488-01A6-11F3-67D2-C72CEDB97B03}"/>
          </ac:spMkLst>
        </pc:spChg>
        <pc:spChg chg="mod">
          <ac:chgData name="Utsav Kundu" userId="a21929a9d8c8b5d8" providerId="LiveId" clId="{51C4D88A-08BC-4A33-B158-7BBEBC2962C2}" dt="2025-10-23T22:07:45.912" v="29" actId="27636"/>
          <ac:spMkLst>
            <pc:docMk/>
            <pc:sldMk cId="41123369" sldId="260"/>
            <ac:spMk id="6" creationId="{654DF529-0A15-631F-678A-F880FED64F34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7" creationId="{10F71B54-6A96-367C-4FE0-203BB0F60EA5}"/>
          </ac:spMkLst>
        </pc:spChg>
        <pc:spChg chg="mod">
          <ac:chgData name="Utsav Kundu" userId="a21929a9d8c8b5d8" providerId="LiveId" clId="{51C4D88A-08BC-4A33-B158-7BBEBC2962C2}" dt="2025-10-23T22:07:45.907" v="28" actId="27636"/>
          <ac:spMkLst>
            <pc:docMk/>
            <pc:sldMk cId="41123369" sldId="260"/>
            <ac:spMk id="8" creationId="{4203324B-494A-B8CF-D474-EB0D75FAD7C4}"/>
          </ac:spMkLst>
        </pc:spChg>
      </pc:sldChg>
      <pc:sldChg chg="delSp modSp mod delDesignElem">
        <pc:chgData name="Utsav Kundu" userId="a21929a9d8c8b5d8" providerId="LiveId" clId="{51C4D88A-08BC-4A33-B158-7BBEBC2962C2}" dt="2025-10-23T22:07:45.927" v="30" actId="27636"/>
        <pc:sldMkLst>
          <pc:docMk/>
          <pc:sldMk cId="3646817343" sldId="262"/>
        </pc:sldMkLst>
        <pc:spChg chg="mod">
          <ac:chgData name="Utsav Kundu" userId="a21929a9d8c8b5d8" providerId="LiveId" clId="{51C4D88A-08BC-4A33-B158-7BBEBC2962C2}" dt="2025-10-23T22:07:45.927" v="30" actId="27636"/>
          <ac:spMkLst>
            <pc:docMk/>
            <pc:sldMk cId="3646817343" sldId="262"/>
            <ac:spMk id="3" creationId="{A8F26639-BBA7-C64C-91B0-826C47D9862D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6" creationId="{9F4444CE-BC8D-4D61-B303-4C05614E62AB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8" creationId="{62423CA5-E2E1-4789-B759-9906C1C94063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0" creationId="{73772B81-181F-48B7-8826-4D9686D15DF5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2" creationId="{B2205F6E-03C6-4E92-877C-E2482F6599AA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3646817343" sldId="262"/>
            <ac:grpSpMk id="34" creationId="{1F2B4773-3207-44CC-B7AC-892B70498211}"/>
          </ac:grpSpMkLst>
        </pc:grpChg>
      </pc:sldChg>
      <pc:sldChg chg="delSp modSp mod delDesignElem">
        <pc:chgData name="Utsav Kundu" userId="a21929a9d8c8b5d8" providerId="LiveId" clId="{51C4D88A-08BC-4A33-B158-7BBEBC2962C2}" dt="2025-10-23T22:07:45.942" v="32" actId="27636"/>
        <pc:sldMkLst>
          <pc:docMk/>
          <pc:sldMk cId="712491672" sldId="263"/>
        </pc:sldMkLst>
        <pc:spChg chg="mod">
          <ac:chgData name="Utsav Kundu" userId="a21929a9d8c8b5d8" providerId="LiveId" clId="{51C4D88A-08BC-4A33-B158-7BBEBC2962C2}" dt="2025-10-23T22:07:45.934" v="31" actId="27636"/>
          <ac:spMkLst>
            <pc:docMk/>
            <pc:sldMk cId="712491672" sldId="263"/>
            <ac:spMk id="2" creationId="{B9BFF2CD-6CC3-0DA0-8EA4-48A99B063EA6}"/>
          </ac:spMkLst>
        </pc:spChg>
        <pc:spChg chg="mod">
          <ac:chgData name="Utsav Kundu" userId="a21929a9d8c8b5d8" providerId="LiveId" clId="{51C4D88A-08BC-4A33-B158-7BBEBC2962C2}" dt="2025-10-23T22:07:45.942" v="32" actId="27636"/>
          <ac:spMkLst>
            <pc:docMk/>
            <pc:sldMk cId="712491672" sldId="263"/>
            <ac:spMk id="3" creationId="{ACDB26A3-F238-C138-8BA1-129BBD57A57D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712491672" sldId="263"/>
            <ac:grpSpMk id="71" creationId="{1F2B4773-3207-44CC-B7AC-892B70498211}"/>
          </ac:grpSpMkLst>
        </pc:grpChg>
      </pc:sldChg>
      <pc:sldChg chg="addSp delSp modSp mod">
        <pc:chgData name="Utsav Kundu" userId="a21929a9d8c8b5d8" providerId="LiveId" clId="{51C4D88A-08BC-4A33-B158-7BBEBC2962C2}" dt="2025-10-23T22:08:21.228" v="53" actId="20577"/>
        <pc:sldMkLst>
          <pc:docMk/>
          <pc:sldMk cId="1348288268" sldId="264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348288268" sldId="264"/>
            <ac:spMk id="2" creationId="{A4F0C4BA-42C1-E722-7F42-8D5383E0E331}"/>
          </ac:spMkLst>
        </pc:spChg>
        <pc:spChg chg="add del">
          <ac:chgData name="Utsav Kundu" userId="a21929a9d8c8b5d8" providerId="LiveId" clId="{51C4D88A-08BC-4A33-B158-7BBEBC2962C2}" dt="2025-10-23T22:05:40.566" v="9" actId="26606"/>
          <ac:spMkLst>
            <pc:docMk/>
            <pc:sldMk cId="1348288268" sldId="264"/>
            <ac:spMk id="3" creationId="{7668E89F-BFB3-E182-2D65-FDE56EAD3279}"/>
          </ac:spMkLst>
        </pc:spChg>
        <pc:spChg chg="mod">
          <ac:chgData name="Utsav Kundu" userId="a21929a9d8c8b5d8" providerId="LiveId" clId="{51C4D88A-08BC-4A33-B158-7BBEBC2962C2}" dt="2025-10-23T22:08:21.228" v="53" actId="20577"/>
          <ac:spMkLst>
            <pc:docMk/>
            <pc:sldMk cId="1348288268" sldId="264"/>
            <ac:spMk id="4" creationId="{14944E84-5D30-C593-7F87-6494111D1180}"/>
          </ac:spMkLst>
        </pc:spChg>
        <pc:graphicFrameChg chg="add del">
          <ac:chgData name="Utsav Kundu" userId="a21929a9d8c8b5d8" providerId="LiveId" clId="{51C4D88A-08BC-4A33-B158-7BBEBC2962C2}" dt="2025-10-23T22:05:39.150" v="6" actId="26606"/>
          <ac:graphicFrameMkLst>
            <pc:docMk/>
            <pc:sldMk cId="1348288268" sldId="264"/>
            <ac:graphicFrameMk id="6" creationId="{E0101192-295D-E527-C642-AEFAC874005D}"/>
          </ac:graphicFrameMkLst>
        </pc:graphicFrameChg>
        <pc:graphicFrameChg chg="add del">
          <ac:chgData name="Utsav Kundu" userId="a21929a9d8c8b5d8" providerId="LiveId" clId="{51C4D88A-08BC-4A33-B158-7BBEBC2962C2}" dt="2025-10-23T22:05:40.552" v="8" actId="26606"/>
          <ac:graphicFrameMkLst>
            <pc:docMk/>
            <pc:sldMk cId="1348288268" sldId="264"/>
            <ac:graphicFrameMk id="8" creationId="{E91D0B39-B0D4-5D02-987A-C2B1DBFD62FB}"/>
          </ac:graphicFrameMkLst>
        </pc:graphicFrameChg>
        <pc:graphicFrameChg chg="add mod">
          <ac:chgData name="Utsav Kundu" userId="a21929a9d8c8b5d8" providerId="LiveId" clId="{51C4D88A-08BC-4A33-B158-7BBEBC2962C2}" dt="2025-10-23T22:07:45.763" v="23"/>
          <ac:graphicFrameMkLst>
            <pc:docMk/>
            <pc:sldMk cId="1348288268" sldId="264"/>
            <ac:graphicFrameMk id="10" creationId="{E0101192-295D-E527-C642-AEFAC874005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FA612A-BAF2-480F-B0BC-44678E86F56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4C8F4-AE4C-4481-85AA-43A2A344A742}">
      <dgm:prSet/>
      <dgm:spPr/>
      <dgm:t>
        <a:bodyPr/>
        <a:lstStyle/>
        <a:p>
          <a:r>
            <a:rPr lang="en-US"/>
            <a:t>‘Fraud_label’ is our target feature for the dataset, and the two features mentioned here are the most correlated features to the target feature.</a:t>
          </a:r>
        </a:p>
      </dgm:t>
    </dgm:pt>
    <dgm:pt modelId="{718ED3B7-5B24-4F45-B9D3-5E410CE8F26E}" type="parTrans" cxnId="{D7E579E7-CE0F-4180-A392-5B4D68C0F666}">
      <dgm:prSet/>
      <dgm:spPr/>
      <dgm:t>
        <a:bodyPr/>
        <a:lstStyle/>
        <a:p>
          <a:endParaRPr lang="en-US"/>
        </a:p>
      </dgm:t>
    </dgm:pt>
    <dgm:pt modelId="{21FF731D-26DF-45FA-BBC4-1A77F3D1DBA5}" type="sibTrans" cxnId="{D7E579E7-CE0F-4180-A392-5B4D68C0F666}">
      <dgm:prSet/>
      <dgm:spPr/>
      <dgm:t>
        <a:bodyPr/>
        <a:lstStyle/>
        <a:p>
          <a:endParaRPr lang="en-US"/>
        </a:p>
      </dgm:t>
    </dgm:pt>
    <dgm:pt modelId="{96BE9DE4-0C9E-4A34-A17A-2404DBF12C7A}">
      <dgm:prSet/>
      <dgm:spPr/>
      <dgm:t>
        <a:bodyPr/>
        <a:lstStyle/>
        <a:p>
          <a:r>
            <a:rPr lang="en-US" dirty="0"/>
            <a:t>In this version of the report, I dropped both the features after doing the FE &amp; EDA.</a:t>
          </a:r>
        </a:p>
      </dgm:t>
    </dgm:pt>
    <dgm:pt modelId="{C8CA4E40-1185-40C6-8684-100E0DAA4AF5}" type="parTrans" cxnId="{5B111E6B-7D2B-4857-8308-F5E2A9716F34}">
      <dgm:prSet/>
      <dgm:spPr/>
      <dgm:t>
        <a:bodyPr/>
        <a:lstStyle/>
        <a:p>
          <a:endParaRPr lang="en-US"/>
        </a:p>
      </dgm:t>
    </dgm:pt>
    <dgm:pt modelId="{BDA19574-DB34-467F-A18A-6F748D6F1BB6}" type="sibTrans" cxnId="{5B111E6B-7D2B-4857-8308-F5E2A9716F34}">
      <dgm:prSet/>
      <dgm:spPr/>
      <dgm:t>
        <a:bodyPr/>
        <a:lstStyle/>
        <a:p>
          <a:endParaRPr lang="en-US"/>
        </a:p>
      </dgm:t>
    </dgm:pt>
    <dgm:pt modelId="{02261117-0EEA-4D2D-AD58-CFAC273BDA7B}">
      <dgm:prSet/>
      <dgm:spPr/>
      <dgm:t>
        <a:bodyPr/>
        <a:lstStyle/>
        <a:p>
          <a:r>
            <a:rPr lang="en-US"/>
            <a:t>After, that I used the different Machine Learning models as well as Deep Learning model ANN.</a:t>
          </a:r>
        </a:p>
      </dgm:t>
    </dgm:pt>
    <dgm:pt modelId="{7CBA2F3E-5F4A-459B-985B-09BBC0A40433}" type="parTrans" cxnId="{47AD72D0-638B-4A4D-AD82-71D333C0E2E6}">
      <dgm:prSet/>
      <dgm:spPr/>
      <dgm:t>
        <a:bodyPr/>
        <a:lstStyle/>
        <a:p>
          <a:endParaRPr lang="en-US"/>
        </a:p>
      </dgm:t>
    </dgm:pt>
    <dgm:pt modelId="{F93DB650-50C7-4834-837C-18CB4D7F321F}" type="sibTrans" cxnId="{47AD72D0-638B-4A4D-AD82-71D333C0E2E6}">
      <dgm:prSet/>
      <dgm:spPr/>
      <dgm:t>
        <a:bodyPr/>
        <a:lstStyle/>
        <a:p>
          <a:endParaRPr lang="en-US"/>
        </a:p>
      </dgm:t>
    </dgm:pt>
    <dgm:pt modelId="{4E3209BD-BDE9-4E26-A58A-7DE7F4409FFC}">
      <dgm:prSet/>
      <dgm:spPr/>
      <dgm:t>
        <a:bodyPr/>
        <a:lstStyle/>
        <a:p>
          <a:r>
            <a:rPr lang="en-US"/>
            <a:t>For tree-based models, I didn’t apply any scaling method.</a:t>
          </a:r>
        </a:p>
      </dgm:t>
    </dgm:pt>
    <dgm:pt modelId="{E693BF29-AFD1-46DE-A28C-729F4DDB735D}" type="parTrans" cxnId="{2A56C918-5479-40D8-A802-CFB584991764}">
      <dgm:prSet/>
      <dgm:spPr/>
      <dgm:t>
        <a:bodyPr/>
        <a:lstStyle/>
        <a:p>
          <a:endParaRPr lang="en-US"/>
        </a:p>
      </dgm:t>
    </dgm:pt>
    <dgm:pt modelId="{771C7E91-2612-4985-B223-9232DF7D9452}" type="sibTrans" cxnId="{2A56C918-5479-40D8-A802-CFB584991764}">
      <dgm:prSet/>
      <dgm:spPr/>
      <dgm:t>
        <a:bodyPr/>
        <a:lstStyle/>
        <a:p>
          <a:endParaRPr lang="en-US"/>
        </a:p>
      </dgm:t>
    </dgm:pt>
    <dgm:pt modelId="{863C1F86-331E-46EB-923E-A9A95279B750}">
      <dgm:prSet/>
      <dgm:spPr/>
      <dgm:t>
        <a:bodyPr/>
        <a:lstStyle/>
        <a:p>
          <a:r>
            <a:rPr lang="en-US"/>
            <a:t>For Distance based models, I used the Min Max scaler.</a:t>
          </a:r>
        </a:p>
      </dgm:t>
    </dgm:pt>
    <dgm:pt modelId="{7D2C99FC-90C4-4448-A80A-A736A67FA6F7}" type="parTrans" cxnId="{768B0393-8C03-4303-8828-52F240F74BA5}">
      <dgm:prSet/>
      <dgm:spPr/>
      <dgm:t>
        <a:bodyPr/>
        <a:lstStyle/>
        <a:p>
          <a:endParaRPr lang="en-US"/>
        </a:p>
      </dgm:t>
    </dgm:pt>
    <dgm:pt modelId="{3710EF79-0DE5-4A5C-ABA3-340D3E9FE674}" type="sibTrans" cxnId="{768B0393-8C03-4303-8828-52F240F74BA5}">
      <dgm:prSet/>
      <dgm:spPr/>
      <dgm:t>
        <a:bodyPr/>
        <a:lstStyle/>
        <a:p>
          <a:endParaRPr lang="en-US"/>
        </a:p>
      </dgm:t>
    </dgm:pt>
    <dgm:pt modelId="{704D170F-188B-4B8B-8FDB-2F66C4AB4661}" type="pres">
      <dgm:prSet presAssocID="{B5FA612A-BAF2-480F-B0BC-44678E86F567}" presName="cycle" presStyleCnt="0">
        <dgm:presLayoutVars>
          <dgm:dir/>
          <dgm:resizeHandles val="exact"/>
        </dgm:presLayoutVars>
      </dgm:prSet>
      <dgm:spPr/>
    </dgm:pt>
    <dgm:pt modelId="{6084D960-509D-4019-AB4B-B1BF050D9A97}" type="pres">
      <dgm:prSet presAssocID="{9DE4C8F4-AE4C-4481-85AA-43A2A344A742}" presName="dummy" presStyleCnt="0"/>
      <dgm:spPr/>
    </dgm:pt>
    <dgm:pt modelId="{98223A42-CDA4-4698-A92C-52887CA59B9B}" type="pres">
      <dgm:prSet presAssocID="{9DE4C8F4-AE4C-4481-85AA-43A2A344A742}" presName="node" presStyleLbl="revTx" presStyleIdx="0" presStyleCnt="5">
        <dgm:presLayoutVars>
          <dgm:bulletEnabled val="1"/>
        </dgm:presLayoutVars>
      </dgm:prSet>
      <dgm:spPr/>
    </dgm:pt>
    <dgm:pt modelId="{DB6BE0F8-DFA0-4AE1-97B2-2A08661D7719}" type="pres">
      <dgm:prSet presAssocID="{21FF731D-26DF-45FA-BBC4-1A77F3D1DBA5}" presName="sibTrans" presStyleLbl="node1" presStyleIdx="0" presStyleCnt="5"/>
      <dgm:spPr/>
    </dgm:pt>
    <dgm:pt modelId="{0847990E-B623-410E-B6E0-3D0B3FBEC9BE}" type="pres">
      <dgm:prSet presAssocID="{96BE9DE4-0C9E-4A34-A17A-2404DBF12C7A}" presName="dummy" presStyleCnt="0"/>
      <dgm:spPr/>
    </dgm:pt>
    <dgm:pt modelId="{0D35C9FA-A6E1-4B2E-9282-E2A02E6CEC52}" type="pres">
      <dgm:prSet presAssocID="{96BE9DE4-0C9E-4A34-A17A-2404DBF12C7A}" presName="node" presStyleLbl="revTx" presStyleIdx="1" presStyleCnt="5">
        <dgm:presLayoutVars>
          <dgm:bulletEnabled val="1"/>
        </dgm:presLayoutVars>
      </dgm:prSet>
      <dgm:spPr/>
    </dgm:pt>
    <dgm:pt modelId="{505B5745-C77F-4345-A11C-7BD3B8BEF758}" type="pres">
      <dgm:prSet presAssocID="{BDA19574-DB34-467F-A18A-6F748D6F1BB6}" presName="sibTrans" presStyleLbl="node1" presStyleIdx="1" presStyleCnt="5"/>
      <dgm:spPr/>
    </dgm:pt>
    <dgm:pt modelId="{80A840FC-3D8B-4D0A-B415-3F71DC3E2948}" type="pres">
      <dgm:prSet presAssocID="{02261117-0EEA-4D2D-AD58-CFAC273BDA7B}" presName="dummy" presStyleCnt="0"/>
      <dgm:spPr/>
    </dgm:pt>
    <dgm:pt modelId="{A5C52B99-E20E-4420-936C-425EF545F547}" type="pres">
      <dgm:prSet presAssocID="{02261117-0EEA-4D2D-AD58-CFAC273BDA7B}" presName="node" presStyleLbl="revTx" presStyleIdx="2" presStyleCnt="5">
        <dgm:presLayoutVars>
          <dgm:bulletEnabled val="1"/>
        </dgm:presLayoutVars>
      </dgm:prSet>
      <dgm:spPr/>
    </dgm:pt>
    <dgm:pt modelId="{D75D8DFB-8216-4EF9-8B05-34BB2028190D}" type="pres">
      <dgm:prSet presAssocID="{F93DB650-50C7-4834-837C-18CB4D7F321F}" presName="sibTrans" presStyleLbl="node1" presStyleIdx="2" presStyleCnt="5"/>
      <dgm:spPr/>
    </dgm:pt>
    <dgm:pt modelId="{E2E90C37-0BC7-4226-BC90-224C00EDC2DD}" type="pres">
      <dgm:prSet presAssocID="{4E3209BD-BDE9-4E26-A58A-7DE7F4409FFC}" presName="dummy" presStyleCnt="0"/>
      <dgm:spPr/>
    </dgm:pt>
    <dgm:pt modelId="{98A4AAE0-9653-4B60-B101-989B25019C2E}" type="pres">
      <dgm:prSet presAssocID="{4E3209BD-BDE9-4E26-A58A-7DE7F4409FFC}" presName="node" presStyleLbl="revTx" presStyleIdx="3" presStyleCnt="5">
        <dgm:presLayoutVars>
          <dgm:bulletEnabled val="1"/>
        </dgm:presLayoutVars>
      </dgm:prSet>
      <dgm:spPr/>
    </dgm:pt>
    <dgm:pt modelId="{421DA7AF-99E5-480C-A4A2-5014B5B52DF4}" type="pres">
      <dgm:prSet presAssocID="{771C7E91-2612-4985-B223-9232DF7D9452}" presName="sibTrans" presStyleLbl="node1" presStyleIdx="3" presStyleCnt="5"/>
      <dgm:spPr/>
    </dgm:pt>
    <dgm:pt modelId="{FAA6592C-0290-4F32-A0A7-A35276135A89}" type="pres">
      <dgm:prSet presAssocID="{863C1F86-331E-46EB-923E-A9A95279B750}" presName="dummy" presStyleCnt="0"/>
      <dgm:spPr/>
    </dgm:pt>
    <dgm:pt modelId="{F7ABF862-8716-4E2B-9721-711C7F485BDB}" type="pres">
      <dgm:prSet presAssocID="{863C1F86-331E-46EB-923E-A9A95279B750}" presName="node" presStyleLbl="revTx" presStyleIdx="4" presStyleCnt="5">
        <dgm:presLayoutVars>
          <dgm:bulletEnabled val="1"/>
        </dgm:presLayoutVars>
      </dgm:prSet>
      <dgm:spPr/>
    </dgm:pt>
    <dgm:pt modelId="{C557972B-2488-464B-90E3-E73904568790}" type="pres">
      <dgm:prSet presAssocID="{3710EF79-0DE5-4A5C-ABA3-340D3E9FE674}" presName="sibTrans" presStyleLbl="node1" presStyleIdx="4" presStyleCnt="5"/>
      <dgm:spPr/>
    </dgm:pt>
  </dgm:ptLst>
  <dgm:cxnLst>
    <dgm:cxn modelId="{F11BAF09-CC11-4C62-8C5C-52562C584B52}" type="presOf" srcId="{3710EF79-0DE5-4A5C-ABA3-340D3E9FE674}" destId="{C557972B-2488-464B-90E3-E73904568790}" srcOrd="0" destOrd="0" presId="urn:microsoft.com/office/officeart/2005/8/layout/cycle1"/>
    <dgm:cxn modelId="{2A56C918-5479-40D8-A802-CFB584991764}" srcId="{B5FA612A-BAF2-480F-B0BC-44678E86F567}" destId="{4E3209BD-BDE9-4E26-A58A-7DE7F4409FFC}" srcOrd="3" destOrd="0" parTransId="{E693BF29-AFD1-46DE-A28C-729F4DDB735D}" sibTransId="{771C7E91-2612-4985-B223-9232DF7D9452}"/>
    <dgm:cxn modelId="{85C95E22-5A4B-4423-B3E3-ECD129604980}" type="presOf" srcId="{771C7E91-2612-4985-B223-9232DF7D9452}" destId="{421DA7AF-99E5-480C-A4A2-5014B5B52DF4}" srcOrd="0" destOrd="0" presId="urn:microsoft.com/office/officeart/2005/8/layout/cycle1"/>
    <dgm:cxn modelId="{7AD74844-1D1F-497F-81B1-CD1CBDD0766C}" type="presOf" srcId="{4E3209BD-BDE9-4E26-A58A-7DE7F4409FFC}" destId="{98A4AAE0-9653-4B60-B101-989B25019C2E}" srcOrd="0" destOrd="0" presId="urn:microsoft.com/office/officeart/2005/8/layout/cycle1"/>
    <dgm:cxn modelId="{B4FB1C49-0B29-46DD-917F-D56C338DCEEB}" type="presOf" srcId="{BDA19574-DB34-467F-A18A-6F748D6F1BB6}" destId="{505B5745-C77F-4345-A11C-7BD3B8BEF758}" srcOrd="0" destOrd="0" presId="urn:microsoft.com/office/officeart/2005/8/layout/cycle1"/>
    <dgm:cxn modelId="{5B111E6B-7D2B-4857-8308-F5E2A9716F34}" srcId="{B5FA612A-BAF2-480F-B0BC-44678E86F567}" destId="{96BE9DE4-0C9E-4A34-A17A-2404DBF12C7A}" srcOrd="1" destOrd="0" parTransId="{C8CA4E40-1185-40C6-8684-100E0DAA4AF5}" sibTransId="{BDA19574-DB34-467F-A18A-6F748D6F1BB6}"/>
    <dgm:cxn modelId="{F129C675-1602-4B45-822D-63453C913846}" type="presOf" srcId="{96BE9DE4-0C9E-4A34-A17A-2404DBF12C7A}" destId="{0D35C9FA-A6E1-4B2E-9282-E2A02E6CEC52}" srcOrd="0" destOrd="0" presId="urn:microsoft.com/office/officeart/2005/8/layout/cycle1"/>
    <dgm:cxn modelId="{2645F175-4063-499F-9CC5-C90E8D7463F7}" type="presOf" srcId="{02261117-0EEA-4D2D-AD58-CFAC273BDA7B}" destId="{A5C52B99-E20E-4420-936C-425EF545F547}" srcOrd="0" destOrd="0" presId="urn:microsoft.com/office/officeart/2005/8/layout/cycle1"/>
    <dgm:cxn modelId="{E89D897B-5DE8-4053-88CA-64C2ACA5837F}" type="presOf" srcId="{863C1F86-331E-46EB-923E-A9A95279B750}" destId="{F7ABF862-8716-4E2B-9721-711C7F485BDB}" srcOrd="0" destOrd="0" presId="urn:microsoft.com/office/officeart/2005/8/layout/cycle1"/>
    <dgm:cxn modelId="{768B0393-8C03-4303-8828-52F240F74BA5}" srcId="{B5FA612A-BAF2-480F-B0BC-44678E86F567}" destId="{863C1F86-331E-46EB-923E-A9A95279B750}" srcOrd="4" destOrd="0" parTransId="{7D2C99FC-90C4-4448-A80A-A736A67FA6F7}" sibTransId="{3710EF79-0DE5-4A5C-ABA3-340D3E9FE674}"/>
    <dgm:cxn modelId="{BF678CCC-D786-4DEE-8EE2-513C5504B98B}" type="presOf" srcId="{B5FA612A-BAF2-480F-B0BC-44678E86F567}" destId="{704D170F-188B-4B8B-8FDB-2F66C4AB4661}" srcOrd="0" destOrd="0" presId="urn:microsoft.com/office/officeart/2005/8/layout/cycle1"/>
    <dgm:cxn modelId="{47AD72D0-638B-4A4D-AD82-71D333C0E2E6}" srcId="{B5FA612A-BAF2-480F-B0BC-44678E86F567}" destId="{02261117-0EEA-4D2D-AD58-CFAC273BDA7B}" srcOrd="2" destOrd="0" parTransId="{7CBA2F3E-5F4A-459B-985B-09BBC0A40433}" sibTransId="{F93DB650-50C7-4834-837C-18CB4D7F321F}"/>
    <dgm:cxn modelId="{297F82E2-59C4-4CEC-88A2-1051685B3494}" type="presOf" srcId="{9DE4C8F4-AE4C-4481-85AA-43A2A344A742}" destId="{98223A42-CDA4-4698-A92C-52887CA59B9B}" srcOrd="0" destOrd="0" presId="urn:microsoft.com/office/officeart/2005/8/layout/cycle1"/>
    <dgm:cxn modelId="{D7E579E7-CE0F-4180-A392-5B4D68C0F666}" srcId="{B5FA612A-BAF2-480F-B0BC-44678E86F567}" destId="{9DE4C8F4-AE4C-4481-85AA-43A2A344A742}" srcOrd="0" destOrd="0" parTransId="{718ED3B7-5B24-4F45-B9D3-5E410CE8F26E}" sibTransId="{21FF731D-26DF-45FA-BBC4-1A77F3D1DBA5}"/>
    <dgm:cxn modelId="{EB81CAEB-F37D-4B72-8FB9-0333819165BE}" type="presOf" srcId="{F93DB650-50C7-4834-837C-18CB4D7F321F}" destId="{D75D8DFB-8216-4EF9-8B05-34BB2028190D}" srcOrd="0" destOrd="0" presId="urn:microsoft.com/office/officeart/2005/8/layout/cycle1"/>
    <dgm:cxn modelId="{D7F98CF7-B6F9-4A5B-B1C0-00ED5FB39E0B}" type="presOf" srcId="{21FF731D-26DF-45FA-BBC4-1A77F3D1DBA5}" destId="{DB6BE0F8-DFA0-4AE1-97B2-2A08661D7719}" srcOrd="0" destOrd="0" presId="urn:microsoft.com/office/officeart/2005/8/layout/cycle1"/>
    <dgm:cxn modelId="{8133B4C0-DC43-4536-8BD5-A48FF7E849F5}" type="presParOf" srcId="{704D170F-188B-4B8B-8FDB-2F66C4AB4661}" destId="{6084D960-509D-4019-AB4B-B1BF050D9A97}" srcOrd="0" destOrd="0" presId="urn:microsoft.com/office/officeart/2005/8/layout/cycle1"/>
    <dgm:cxn modelId="{4FF5CB5A-6E6E-4147-AB33-A7EB552DF601}" type="presParOf" srcId="{704D170F-188B-4B8B-8FDB-2F66C4AB4661}" destId="{98223A42-CDA4-4698-A92C-52887CA59B9B}" srcOrd="1" destOrd="0" presId="urn:microsoft.com/office/officeart/2005/8/layout/cycle1"/>
    <dgm:cxn modelId="{1095D6D5-2F17-4F5C-AC27-6B0C35978B2F}" type="presParOf" srcId="{704D170F-188B-4B8B-8FDB-2F66C4AB4661}" destId="{DB6BE0F8-DFA0-4AE1-97B2-2A08661D7719}" srcOrd="2" destOrd="0" presId="urn:microsoft.com/office/officeart/2005/8/layout/cycle1"/>
    <dgm:cxn modelId="{22ACCD28-4F2B-48DA-9BBD-13CDF5AAE63C}" type="presParOf" srcId="{704D170F-188B-4B8B-8FDB-2F66C4AB4661}" destId="{0847990E-B623-410E-B6E0-3D0B3FBEC9BE}" srcOrd="3" destOrd="0" presId="urn:microsoft.com/office/officeart/2005/8/layout/cycle1"/>
    <dgm:cxn modelId="{4B03A681-1413-47D1-932E-AFC48B70D90C}" type="presParOf" srcId="{704D170F-188B-4B8B-8FDB-2F66C4AB4661}" destId="{0D35C9FA-A6E1-4B2E-9282-E2A02E6CEC52}" srcOrd="4" destOrd="0" presId="urn:microsoft.com/office/officeart/2005/8/layout/cycle1"/>
    <dgm:cxn modelId="{906B24E4-4256-48ED-81DF-D899FBBE319F}" type="presParOf" srcId="{704D170F-188B-4B8B-8FDB-2F66C4AB4661}" destId="{505B5745-C77F-4345-A11C-7BD3B8BEF758}" srcOrd="5" destOrd="0" presId="urn:microsoft.com/office/officeart/2005/8/layout/cycle1"/>
    <dgm:cxn modelId="{DA88A54E-57B2-475F-B74D-059E492BE056}" type="presParOf" srcId="{704D170F-188B-4B8B-8FDB-2F66C4AB4661}" destId="{80A840FC-3D8B-4D0A-B415-3F71DC3E2948}" srcOrd="6" destOrd="0" presId="urn:microsoft.com/office/officeart/2005/8/layout/cycle1"/>
    <dgm:cxn modelId="{64B6E269-09FF-4B6F-9940-5C3D568FB620}" type="presParOf" srcId="{704D170F-188B-4B8B-8FDB-2F66C4AB4661}" destId="{A5C52B99-E20E-4420-936C-425EF545F547}" srcOrd="7" destOrd="0" presId="urn:microsoft.com/office/officeart/2005/8/layout/cycle1"/>
    <dgm:cxn modelId="{C87485AB-29D0-4506-815C-BE0977EB93E5}" type="presParOf" srcId="{704D170F-188B-4B8B-8FDB-2F66C4AB4661}" destId="{D75D8DFB-8216-4EF9-8B05-34BB2028190D}" srcOrd="8" destOrd="0" presId="urn:microsoft.com/office/officeart/2005/8/layout/cycle1"/>
    <dgm:cxn modelId="{45CD9E42-ADC3-4843-923A-4B9A4C9D4750}" type="presParOf" srcId="{704D170F-188B-4B8B-8FDB-2F66C4AB4661}" destId="{E2E90C37-0BC7-4226-BC90-224C00EDC2DD}" srcOrd="9" destOrd="0" presId="urn:microsoft.com/office/officeart/2005/8/layout/cycle1"/>
    <dgm:cxn modelId="{00D19973-F834-4E0F-B3FA-2639F2B60682}" type="presParOf" srcId="{704D170F-188B-4B8B-8FDB-2F66C4AB4661}" destId="{98A4AAE0-9653-4B60-B101-989B25019C2E}" srcOrd="10" destOrd="0" presId="urn:microsoft.com/office/officeart/2005/8/layout/cycle1"/>
    <dgm:cxn modelId="{8289E07B-FA5A-41AB-BCDD-569438A663E1}" type="presParOf" srcId="{704D170F-188B-4B8B-8FDB-2F66C4AB4661}" destId="{421DA7AF-99E5-480C-A4A2-5014B5B52DF4}" srcOrd="11" destOrd="0" presId="urn:microsoft.com/office/officeart/2005/8/layout/cycle1"/>
    <dgm:cxn modelId="{51FBC59D-CE6E-4302-8C5F-4C5A6CBBFB0D}" type="presParOf" srcId="{704D170F-188B-4B8B-8FDB-2F66C4AB4661}" destId="{FAA6592C-0290-4F32-A0A7-A35276135A89}" srcOrd="12" destOrd="0" presId="urn:microsoft.com/office/officeart/2005/8/layout/cycle1"/>
    <dgm:cxn modelId="{5E94C4A4-14C8-4A2D-B1E0-D731571176B2}" type="presParOf" srcId="{704D170F-188B-4B8B-8FDB-2F66C4AB4661}" destId="{F7ABF862-8716-4E2B-9721-711C7F485BDB}" srcOrd="13" destOrd="0" presId="urn:microsoft.com/office/officeart/2005/8/layout/cycle1"/>
    <dgm:cxn modelId="{6762C5AC-3363-464D-B755-181F944556D5}" type="presParOf" srcId="{704D170F-188B-4B8B-8FDB-2F66C4AB4661}" destId="{C557972B-2488-464B-90E3-E739045687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23A42-CDA4-4698-A92C-52887CA59B9B}">
      <dsp:nvSpPr>
        <dsp:cNvPr id="0" name=""/>
        <dsp:cNvSpPr/>
      </dsp:nvSpPr>
      <dsp:spPr>
        <a:xfrm>
          <a:off x="3723861" y="35991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‘Fraud_label’ is our target feature for the dataset, and the two features mentioned here are the most correlated features to the target feature.</a:t>
          </a:r>
        </a:p>
      </dsp:txBody>
      <dsp:txXfrm>
        <a:off x="3723861" y="35991"/>
        <a:ext cx="1264546" cy="1264546"/>
      </dsp:txXfrm>
    </dsp:sp>
    <dsp:sp modelId="{DB6BE0F8-DFA0-4AE1-97B2-2A08661D7719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21292479"/>
            <a:gd name="adj4" fmla="val 19766908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5C9FA-A6E1-4B2E-9282-E2A02E6CEC52}">
      <dsp:nvSpPr>
        <dsp:cNvPr id="0" name=""/>
        <dsp:cNvSpPr/>
      </dsp:nvSpPr>
      <dsp:spPr>
        <a:xfrm>
          <a:off x="4487692" y="2386820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this version of the report, I dropped both the features after doing the FE &amp; EDA.</a:t>
          </a:r>
        </a:p>
      </dsp:txBody>
      <dsp:txXfrm>
        <a:off x="4487692" y="2386820"/>
        <a:ext cx="1264546" cy="1264546"/>
      </dsp:txXfrm>
    </dsp:sp>
    <dsp:sp modelId="{505B5745-C77F-4345-A11C-7BD3B8BEF758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4013907"/>
            <a:gd name="adj4" fmla="val 2254159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52B99-E20E-4420-936C-425EF545F547}">
      <dsp:nvSpPr>
        <dsp:cNvPr id="0" name=""/>
        <dsp:cNvSpPr/>
      </dsp:nvSpPr>
      <dsp:spPr>
        <a:xfrm>
          <a:off x="2487957" y="3839712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After, that I used the different Machine Learning models as well as Deep Learning model ANN.</a:t>
          </a:r>
        </a:p>
      </dsp:txBody>
      <dsp:txXfrm>
        <a:off x="2487957" y="3839712"/>
        <a:ext cx="1264546" cy="1264546"/>
      </dsp:txXfrm>
    </dsp:sp>
    <dsp:sp modelId="{D75D8DFB-8216-4EF9-8B05-34BB2028190D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8209741"/>
            <a:gd name="adj4" fmla="val 6449993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4AAE0-9653-4B60-B101-989B25019C2E}">
      <dsp:nvSpPr>
        <dsp:cNvPr id="0" name=""/>
        <dsp:cNvSpPr/>
      </dsp:nvSpPr>
      <dsp:spPr>
        <a:xfrm>
          <a:off x="488223" y="2386820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tree-based models, I didn’t apply any scaling method.</a:t>
          </a:r>
        </a:p>
      </dsp:txBody>
      <dsp:txXfrm>
        <a:off x="488223" y="2386820"/>
        <a:ext cx="1264546" cy="1264546"/>
      </dsp:txXfrm>
    </dsp:sp>
    <dsp:sp modelId="{421DA7AF-99E5-480C-A4A2-5014B5B52DF4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12296992"/>
            <a:gd name="adj4" fmla="val 10771421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BF862-8716-4E2B-9721-711C7F485BDB}">
      <dsp:nvSpPr>
        <dsp:cNvPr id="0" name=""/>
        <dsp:cNvSpPr/>
      </dsp:nvSpPr>
      <dsp:spPr>
        <a:xfrm>
          <a:off x="1252053" y="35991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Distance based models, I used the Min Max scaler.</a:t>
          </a:r>
        </a:p>
      </dsp:txBody>
      <dsp:txXfrm>
        <a:off x="1252053" y="35991"/>
        <a:ext cx="1264546" cy="1264546"/>
      </dsp:txXfrm>
    </dsp:sp>
    <dsp:sp modelId="{C557972B-2488-464B-90E3-E73904568790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16864898"/>
            <a:gd name="adj4" fmla="val 15199001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8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1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6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7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9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0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6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1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7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35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10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85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9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1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Fraud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Report : Models with both </a:t>
            </a:r>
            <a:r>
              <a:rPr lang="en-US" dirty="0"/>
              <a:t>features dropped after</a:t>
            </a:r>
            <a:r>
              <a:rPr lang="en-US" dirty="0">
                <a:solidFill>
                  <a:schemeClr val="tx1"/>
                </a:solidFill>
              </a:rPr>
              <a:t> FE &amp; EDA</a:t>
            </a:r>
          </a:p>
        </p:txBody>
      </p:sp>
    </p:spTree>
    <p:extLst>
      <p:ext uri="{BB962C8B-B14F-4D97-AF65-F5344CB8AC3E}">
        <p14:creationId xmlns:p14="http://schemas.microsoft.com/office/powerpoint/2010/main" val="9816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C4BA-42C1-E722-7F42-8D5383E0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their correlation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0101192-295D-E527-C642-AEFAC8740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058492"/>
              </p:ext>
            </p:extLst>
          </p:nvPr>
        </p:nvGraphicFramePr>
        <p:xfrm>
          <a:off x="5262563" y="685800"/>
          <a:ext cx="6240462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E84-5D30-C593-7F87-6494111D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Fraud_Label</a:t>
            </a:r>
            <a:r>
              <a:rPr lang="en-US" dirty="0"/>
              <a:t>                        1.000000</a:t>
            </a:r>
          </a:p>
          <a:p>
            <a:r>
              <a:rPr lang="en-US" dirty="0"/>
              <a:t>Failed_Transaction_Count_7d	            0.509871</a:t>
            </a:r>
          </a:p>
          <a:p>
            <a:r>
              <a:rPr lang="en-US" dirty="0" err="1"/>
              <a:t>Risk_Score</a:t>
            </a:r>
            <a:r>
              <a:rPr lang="en-US" dirty="0"/>
              <a:t>                         0.385810</a:t>
            </a:r>
          </a:p>
        </p:txBody>
      </p:sp>
    </p:spTree>
    <p:extLst>
      <p:ext uri="{BB962C8B-B14F-4D97-AF65-F5344CB8AC3E}">
        <p14:creationId xmlns:p14="http://schemas.microsoft.com/office/powerpoint/2010/main" val="13482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79F-FB62-C923-6384-C256C88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FCA20-8186-20E6-49D9-2FFA6D3C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F05-E640-0DBF-3070-4AF8467BEB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r>
              <a:rPr lang="en-US" sz="1000" dirty="0" err="1"/>
              <a:t>accuracy_score</a:t>
            </a:r>
            <a:r>
              <a:rPr lang="en-US" sz="1000" dirty="0"/>
              <a:t> : 0.67584</a:t>
            </a:r>
          </a:p>
          <a:p>
            <a:r>
              <a:rPr lang="en-US" sz="1000" dirty="0"/>
              <a:t>Confusion matrix : </a:t>
            </a:r>
          </a:p>
          <a:p>
            <a:r>
              <a:rPr lang="en-US" sz="1000" dirty="0"/>
              <a:t>[[8448    0]</a:t>
            </a:r>
          </a:p>
          <a:p>
            <a:r>
              <a:rPr lang="en-US" sz="1000" dirty="0"/>
              <a:t> [4052    0]]</a:t>
            </a:r>
          </a:p>
          <a:p>
            <a:r>
              <a:rPr lang="en-US" sz="1000" dirty="0"/>
              <a:t>              precision    recall  f1-score   support</a:t>
            </a:r>
          </a:p>
          <a:p>
            <a:endParaRPr lang="en-US" sz="1000" dirty="0"/>
          </a:p>
          <a:p>
            <a:r>
              <a:rPr lang="en-US" sz="1000" dirty="0"/>
              <a:t>           0       0.68      1.00      0.81      8448</a:t>
            </a:r>
          </a:p>
          <a:p>
            <a:r>
              <a:rPr lang="en-US" sz="1000" dirty="0"/>
              <a:t>           1       0.00      0.00      0.00      4052</a:t>
            </a:r>
          </a:p>
          <a:p>
            <a:endParaRPr lang="en-US" sz="1000" dirty="0"/>
          </a:p>
          <a:p>
            <a:r>
              <a:rPr lang="en-US" sz="1000" dirty="0"/>
              <a:t>    accuracy                           0.68     12500</a:t>
            </a:r>
          </a:p>
          <a:p>
            <a:r>
              <a:rPr lang="en-US" sz="1000" dirty="0"/>
              <a:t>   macro avg       0.34      0.50      0.40     12500</a:t>
            </a:r>
          </a:p>
          <a:p>
            <a:r>
              <a:rPr lang="en-US" sz="1000" dirty="0"/>
              <a:t>weighted avg       0.46      0.68      0.55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6A6B3-2A43-123C-1ACF-522D28C9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E02B68-8E64-3114-82FC-D7BE036517B1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0.67584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[4052    0]]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0       0.68      1.00      0.81      8448</a:t>
            </a:r>
          </a:p>
          <a:p>
            <a:r>
              <a:rPr lang="en-US" dirty="0"/>
              <a:t>           1       0.00      0.00      0.00      4052</a:t>
            </a:r>
          </a:p>
          <a:p>
            <a:endParaRPr lang="en-US" dirty="0"/>
          </a:p>
          <a:p>
            <a:r>
              <a:rPr lang="en-US" dirty="0"/>
              <a:t>    accuracy                           0.68     12500</a:t>
            </a:r>
          </a:p>
          <a:p>
            <a:r>
              <a:rPr lang="en-US" dirty="0"/>
              <a:t>   macro avg       0.34      0.50      0.40     12500</a:t>
            </a:r>
          </a:p>
          <a:p>
            <a:r>
              <a:rPr lang="en-US" dirty="0"/>
              <a:t>weighted avg       0.46      0.68      0.55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B67EC-6A2A-80D3-5688-2809A2F5C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383048-974F-36F2-D89E-94900C0F6D6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0.61416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[[6875 1573]</a:t>
            </a:r>
          </a:p>
          <a:p>
            <a:r>
              <a:rPr lang="en-US" dirty="0"/>
              <a:t> [3250  802]]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0       0.68      0.81      0.74      8448</a:t>
            </a:r>
          </a:p>
          <a:p>
            <a:r>
              <a:rPr lang="en-US" dirty="0"/>
              <a:t>           1       0.34      0.20      0.25      4052</a:t>
            </a:r>
          </a:p>
          <a:p>
            <a:endParaRPr lang="en-US" dirty="0"/>
          </a:p>
          <a:p>
            <a:r>
              <a:rPr lang="en-US" dirty="0"/>
              <a:t>    accuracy                           0.61     12500</a:t>
            </a:r>
          </a:p>
          <a:p>
            <a:r>
              <a:rPr lang="en-US" dirty="0"/>
              <a:t>   macro avg       0.51      0.51      0.49     12500</a:t>
            </a:r>
          </a:p>
          <a:p>
            <a:r>
              <a:rPr lang="en-US" dirty="0"/>
              <a:t>weighted avg       0.57      0.61      0.58     12500</a:t>
            </a:r>
          </a:p>
        </p:txBody>
      </p:sp>
    </p:spTree>
    <p:extLst>
      <p:ext uri="{BB962C8B-B14F-4D97-AF65-F5344CB8AC3E}">
        <p14:creationId xmlns:p14="http://schemas.microsoft.com/office/powerpoint/2010/main" val="96414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CABC6D-4D8F-5A8E-C9C0-0A396F403B1C}"/>
              </a:ext>
            </a:extLst>
          </p:cNvPr>
          <p:cNvSpPr/>
          <p:nvPr/>
        </p:nvSpPr>
        <p:spPr>
          <a:xfrm>
            <a:off x="73742" y="2239297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Logistic Regression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06FDF-B53E-CBB2-1303-41128DD03C9F}"/>
              </a:ext>
            </a:extLst>
          </p:cNvPr>
          <p:cNvSpPr/>
          <p:nvPr/>
        </p:nvSpPr>
        <p:spPr>
          <a:xfrm>
            <a:off x="4198375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78339-E006-DB48-E038-AD3CFA6186E8}"/>
              </a:ext>
            </a:extLst>
          </p:cNvPr>
          <p:cNvSpPr/>
          <p:nvPr/>
        </p:nvSpPr>
        <p:spPr>
          <a:xfrm>
            <a:off x="8323008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KNN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86E84-ABB8-2E28-D0DC-74ADEDF18A83}"/>
              </a:ext>
            </a:extLst>
          </p:cNvPr>
          <p:cNvSpPr/>
          <p:nvPr/>
        </p:nvSpPr>
        <p:spPr>
          <a:xfrm>
            <a:off x="73741" y="149590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5FA42-434A-F817-7A30-5C448C4A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" y="3650581"/>
            <a:ext cx="3795252" cy="3092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7B56F0-8692-5FCB-4F4D-2E9E611A8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375" y="3650580"/>
            <a:ext cx="3795252" cy="3092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8D228D-9C8C-6309-2378-53F1AF62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006" y="3650579"/>
            <a:ext cx="3795252" cy="309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5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C4DE-C7B2-4DAC-05B2-F02F7EE0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Probability based Algorithm(NB)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C919-9E02-E1F3-514D-957F21DFD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dirty="0" err="1"/>
              <a:t>accuracy_score</a:t>
            </a:r>
            <a:r>
              <a:rPr lang="en-US" sz="1000" dirty="0"/>
              <a:t> : 0.67584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[4052    0]]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           0       0.68      1.00      0.81      8448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        1       0.00      0.00      0.00      4052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sz="1000" dirty="0"/>
              <a:t>    accuracy                           0.68     12500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   macro avg       0.34      0.50      0.40     12500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weighted avg       0.46      0.68      0.55     12500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0ADCE31-DB12-4952-DE1A-49B39A6C7A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7175" y="2770236"/>
            <a:ext cx="4895850" cy="29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8D6-8DA0-CFAE-E5E6-DB845087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592D1-3A49-A3E9-988D-96E037A3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11EB-5B17-A120-70CD-F5FC7D5507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0.55432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[[5582 2866]</a:t>
            </a:r>
          </a:p>
          <a:p>
            <a:r>
              <a:rPr lang="en-US" dirty="0"/>
              <a:t> [2705 1347]]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0       0.67      0.66      0.67      8448</a:t>
            </a:r>
          </a:p>
          <a:p>
            <a:r>
              <a:rPr lang="en-US" dirty="0"/>
              <a:t>           1       0.32      0.33      0.33      4052</a:t>
            </a:r>
          </a:p>
          <a:p>
            <a:endParaRPr lang="en-US" dirty="0"/>
          </a:p>
          <a:p>
            <a:r>
              <a:rPr lang="en-US" dirty="0"/>
              <a:t>    accuracy                           0.55     12500</a:t>
            </a:r>
          </a:p>
          <a:p>
            <a:r>
              <a:rPr lang="en-US" dirty="0"/>
              <a:t>   macro avg       0.50      0.50      0.50     12500</a:t>
            </a:r>
          </a:p>
          <a:p>
            <a:r>
              <a:rPr lang="en-US" dirty="0"/>
              <a:t>weighted avg       0.56      0.55      0.56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55488-01A6-11F3-67D2-C72CEDB97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4DF529-0A15-631F-678A-F880FED64F3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0.67224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[[8386   62]</a:t>
            </a:r>
          </a:p>
          <a:p>
            <a:r>
              <a:rPr lang="en-US" dirty="0"/>
              <a:t> [4035   17]]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0       0.68      0.99      0.80      8448</a:t>
            </a:r>
          </a:p>
          <a:p>
            <a:r>
              <a:rPr lang="en-US" dirty="0"/>
              <a:t>           1       0.22      0.00      0.01      4052</a:t>
            </a:r>
          </a:p>
          <a:p>
            <a:endParaRPr lang="en-US" dirty="0"/>
          </a:p>
          <a:p>
            <a:r>
              <a:rPr lang="en-US" dirty="0"/>
              <a:t>    accuracy                           0.67     12500</a:t>
            </a:r>
          </a:p>
          <a:p>
            <a:r>
              <a:rPr lang="en-US" dirty="0"/>
              <a:t>   macro avg       0.45      0.50      0.41     12500</a:t>
            </a:r>
          </a:p>
          <a:p>
            <a:r>
              <a:rPr lang="en-US" dirty="0"/>
              <a:t>weighted avg       0.53      0.67      0.55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F71B54-6A96-367C-4FE0-203BB0F60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03324B-494A-B8CF-D474-EB0D75FAD7C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0.6756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[[8441    7]</a:t>
            </a:r>
          </a:p>
          <a:p>
            <a:r>
              <a:rPr lang="en-US" dirty="0"/>
              <a:t> [4048    4]]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0       0.68      1.00      0.81      8448</a:t>
            </a:r>
          </a:p>
          <a:p>
            <a:r>
              <a:rPr lang="en-US" dirty="0"/>
              <a:t>           1       0.36      0.00      0.00      4052</a:t>
            </a:r>
          </a:p>
          <a:p>
            <a:endParaRPr lang="en-US" dirty="0"/>
          </a:p>
          <a:p>
            <a:r>
              <a:rPr lang="en-US" dirty="0"/>
              <a:t>    accuracy                           0.68     12500</a:t>
            </a:r>
          </a:p>
          <a:p>
            <a:r>
              <a:rPr lang="en-US" dirty="0"/>
              <a:t>   macro avg       0.52      0.50      0.40     12500</a:t>
            </a:r>
          </a:p>
          <a:p>
            <a:r>
              <a:rPr lang="en-US" dirty="0"/>
              <a:t>weighted avg       0.57      0.68      0.55     12500</a:t>
            </a:r>
          </a:p>
        </p:txBody>
      </p:sp>
    </p:spTree>
    <p:extLst>
      <p:ext uri="{BB962C8B-B14F-4D97-AF65-F5344CB8AC3E}">
        <p14:creationId xmlns:p14="http://schemas.microsoft.com/office/powerpoint/2010/main" val="411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4712-5A58-7FB7-62E3-53BAD60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9E8C2E-6C07-767B-D748-CE268175B143}"/>
              </a:ext>
            </a:extLst>
          </p:cNvPr>
          <p:cNvSpPr/>
          <p:nvPr/>
        </p:nvSpPr>
        <p:spPr>
          <a:xfrm>
            <a:off x="73743" y="2235433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Decision Tree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DEBE-752F-D568-0006-B2BD490F7573}"/>
              </a:ext>
            </a:extLst>
          </p:cNvPr>
          <p:cNvSpPr/>
          <p:nvPr/>
        </p:nvSpPr>
        <p:spPr>
          <a:xfrm>
            <a:off x="4311444" y="2235432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8E2C4-7251-F4B4-CF38-7207D291241F}"/>
              </a:ext>
            </a:extLst>
          </p:cNvPr>
          <p:cNvSpPr/>
          <p:nvPr/>
        </p:nvSpPr>
        <p:spPr>
          <a:xfrm>
            <a:off x="8323005" y="2235431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Adaboost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220E2-E7FE-0F78-647E-56476B8CF938}"/>
              </a:ext>
            </a:extLst>
          </p:cNvPr>
          <p:cNvSpPr/>
          <p:nvPr/>
        </p:nvSpPr>
        <p:spPr>
          <a:xfrm>
            <a:off x="73742" y="116933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C61D3-1AC0-3751-445E-F9D3BFC8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4" y="3648818"/>
            <a:ext cx="3795253" cy="3092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8A63D1-4E4F-A97B-A4D5-D12EE9EF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44" y="3648818"/>
            <a:ext cx="3795252" cy="3092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F5104B-68AB-0AA0-4009-C42DFCE99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3" y="3648818"/>
            <a:ext cx="3795252" cy="30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1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D58E8-7FCE-C8F4-B563-DD35157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157F-D673-1147-3F60-068E9746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dirty="0"/>
              <a:t>Gradient boost (Tree 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639-BBA7-C64C-91B0-826C47D9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 err="1">
                <a:solidFill>
                  <a:schemeClr val="bg2">
                    <a:lumMod val="10000"/>
                  </a:schemeClr>
                </a:solidFill>
              </a:rPr>
              <a:t>accuracy_score</a:t>
            </a: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: 0.67488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[[8433   15]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[4049    3]]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          0       0.68      1.00      0.81      8448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          1       0.17      0.00      0.00      4052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   accuracy                           0.67     12500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   macro avg       0.42      0.50      0.40     12500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weighted avg       0.51      0.67      0.55     12500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E5327F-35DA-771A-49AE-EA6B26EFF4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1A9870-56CC-3CE6-EAF8-71AAF8B8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451" y="2585884"/>
            <a:ext cx="5083277" cy="329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538-A106-2C60-231A-B3FB9919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F2CD-6CC3-0DA0-8EA4-48A99B0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/>
              <a:t>ANN(Deep learning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26A3-F238-C138-8BA1-129BBD57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167" y="2160589"/>
            <a:ext cx="3720916" cy="356073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 err="1"/>
              <a:t>accuracy_score</a:t>
            </a:r>
            <a:r>
              <a:rPr lang="en-US" sz="1100" dirty="0"/>
              <a:t> : 0.3316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[[ 149 8299]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[  56 3996]]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           0       0.73      0.02      0.03      8448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       1       0.33      0.99      0.49      4052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    accuracy                           0.33     12500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macro avg       0.53      0.50      0.26     12500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weighted avg       0.60      0.33      0.18     12500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BC73D5-E2BA-3065-E569-3248CF906E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Graph not available because of the results that we have got</a:t>
            </a:r>
          </a:p>
        </p:txBody>
      </p:sp>
    </p:spTree>
    <p:extLst>
      <p:ext uri="{BB962C8B-B14F-4D97-AF65-F5344CB8AC3E}">
        <p14:creationId xmlns:p14="http://schemas.microsoft.com/office/powerpoint/2010/main" val="712491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83</TotalTime>
  <Words>638</Words>
  <Application>Microsoft Office PowerPoint</Application>
  <PresentationFormat>Widescreen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Fraud Detection</vt:lpstr>
      <vt:lpstr>Features &amp; their correlation</vt:lpstr>
      <vt:lpstr>Distance Based Algorithms</vt:lpstr>
      <vt:lpstr>PowerPoint Presentation</vt:lpstr>
      <vt:lpstr>Probability based Algorithm(NB)</vt:lpstr>
      <vt:lpstr>Tree Based Algorithms</vt:lpstr>
      <vt:lpstr>PowerPoint Presentation</vt:lpstr>
      <vt:lpstr>Gradient boost (Tree based)</vt:lpstr>
      <vt:lpstr>ANN(Deep learning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Kundu</cp:lastModifiedBy>
  <cp:revision>25</cp:revision>
  <dcterms:created xsi:type="dcterms:W3CDTF">2025-10-22T21:52:15Z</dcterms:created>
  <dcterms:modified xsi:type="dcterms:W3CDTF">2025-10-24T21:28:22Z</dcterms:modified>
</cp:coreProperties>
</file>