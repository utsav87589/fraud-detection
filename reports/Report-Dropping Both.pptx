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48370D6-44E5-4DBA-A70E-C3630C132B26}">
          <p14:sldIdLst>
            <p14:sldId id="256"/>
            <p14:sldId id="264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sav Kundu" userId="a21929a9d8c8b5d8" providerId="LiveId" clId="{51C4D88A-08BC-4A33-B158-7BBEBC2962C2}"/>
    <pc:docChg chg="modSld">
      <pc:chgData name="Utsav Kundu" userId="a21929a9d8c8b5d8" providerId="LiveId" clId="{51C4D88A-08BC-4A33-B158-7BBEBC2962C2}" dt="2025-10-23T22:06:48.657" v="12" actId="20577"/>
      <pc:docMkLst>
        <pc:docMk/>
      </pc:docMkLst>
      <pc:sldChg chg="modSp mod">
        <pc:chgData name="Utsav Kundu" userId="a21929a9d8c8b5d8" providerId="LiveId" clId="{51C4D88A-08BC-4A33-B158-7BBEBC2962C2}" dt="2025-10-23T22:06:48.657" v="12" actId="20577"/>
        <pc:sldMkLst>
          <pc:docMk/>
          <pc:sldMk cId="1348288268" sldId="264"/>
        </pc:sldMkLst>
        <pc:spChg chg="mod">
          <ac:chgData name="Utsav Kundu" userId="a21929a9d8c8b5d8" providerId="LiveId" clId="{51C4D88A-08BC-4A33-B158-7BBEBC2962C2}" dt="2025-10-23T22:06:48.657" v="12" actId="20577"/>
          <ac:spMkLst>
            <pc:docMk/>
            <pc:sldMk cId="1348288268" sldId="264"/>
            <ac:spMk id="3" creationId="{7668E89F-BFB3-E182-2D65-FDE56EAD327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5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62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53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0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368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10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555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64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741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015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8457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136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2308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55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259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527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42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43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B73E-8382-A1CA-0F2D-A74B3C522D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Fraud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E6010-D294-E6E1-00D8-6B07982787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Report : Models with both features kept during FE &amp; EDA</a:t>
            </a:r>
          </a:p>
        </p:txBody>
      </p:sp>
    </p:spTree>
    <p:extLst>
      <p:ext uri="{BB962C8B-B14F-4D97-AF65-F5344CB8AC3E}">
        <p14:creationId xmlns:p14="http://schemas.microsoft.com/office/powerpoint/2010/main" val="98168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C4BA-42C1-E722-7F42-8D5383E0E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&amp; their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8E89F-BFB3-E182-2D65-FDE56EAD3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‘</a:t>
            </a:r>
            <a:r>
              <a:rPr lang="en-US" dirty="0" err="1"/>
              <a:t>Fraud_label</a:t>
            </a:r>
            <a:r>
              <a:rPr lang="en-US" dirty="0"/>
              <a:t>’ is our target feature for the dataset, and the two features mentioned here are the most correlated features to the target feature.</a:t>
            </a:r>
          </a:p>
          <a:p>
            <a:r>
              <a:rPr lang="en-US" dirty="0"/>
              <a:t>In this version of the report, I kept both the features after doing the FE &amp; EDA.</a:t>
            </a:r>
          </a:p>
          <a:p>
            <a:r>
              <a:rPr lang="en-US" dirty="0"/>
              <a:t>After, that I used the different Machine Learning models as well as Deep Learning model ANN.</a:t>
            </a:r>
          </a:p>
          <a:p>
            <a:r>
              <a:rPr lang="en-US" dirty="0"/>
              <a:t>For tree-based models, I didn’t apply any scaling method.</a:t>
            </a:r>
          </a:p>
          <a:p>
            <a:r>
              <a:rPr lang="en-US" dirty="0"/>
              <a:t>For Distance based models, I used the Min Max scaler.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44E84-5D30-C593-7F87-6494111D1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Fraud_Label</a:t>
            </a:r>
            <a:r>
              <a:rPr lang="en-US" dirty="0"/>
              <a:t>                        1.000000</a:t>
            </a:r>
          </a:p>
          <a:p>
            <a:r>
              <a:rPr lang="en-US" dirty="0"/>
              <a:t>Failed_Transaction_Count_7d        0.509871</a:t>
            </a:r>
          </a:p>
          <a:p>
            <a:r>
              <a:rPr lang="en-US" dirty="0" err="1"/>
              <a:t>Risk_Score</a:t>
            </a:r>
            <a:r>
              <a:rPr lang="en-US" dirty="0"/>
              <a:t>                         0.385810</a:t>
            </a:r>
          </a:p>
        </p:txBody>
      </p:sp>
    </p:spTree>
    <p:extLst>
      <p:ext uri="{BB962C8B-B14F-4D97-AF65-F5344CB8AC3E}">
        <p14:creationId xmlns:p14="http://schemas.microsoft.com/office/powerpoint/2010/main" val="1348288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C079F-FB62-C923-6384-C256C8824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Based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FCA20-8186-20E6-49D9-2FFA6D3C3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A3F05-E640-0DBF-3070-4AF8467BEB3A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3260363"/>
          </a:xfrm>
        </p:spPr>
        <p:txBody>
          <a:bodyPr>
            <a:noAutofit/>
          </a:bodyPr>
          <a:lstStyle/>
          <a:p>
            <a:r>
              <a:rPr lang="en-US" sz="1000" dirty="0"/>
              <a:t>Accuracy score : 0.80264</a:t>
            </a:r>
          </a:p>
          <a:p>
            <a:r>
              <a:rPr lang="en-US" sz="1000" dirty="0"/>
              <a:t>Confusion matrix : </a:t>
            </a:r>
          </a:p>
          <a:p>
            <a:r>
              <a:rPr lang="en-US" sz="1000" dirty="0"/>
              <a:t>[[7434 1014]</a:t>
            </a:r>
          </a:p>
          <a:p>
            <a:r>
              <a:rPr lang="en-US" sz="1000" dirty="0"/>
              <a:t> [1453 2599]]</a:t>
            </a:r>
          </a:p>
          <a:p>
            <a:r>
              <a:rPr lang="en-US" sz="1000" dirty="0"/>
              <a:t>              precision    recall  f1-score   support</a:t>
            </a:r>
          </a:p>
          <a:p>
            <a:r>
              <a:rPr lang="en-US" sz="1000" dirty="0"/>
              <a:t>           0       0.84      0.88      0.86      8448</a:t>
            </a:r>
          </a:p>
          <a:p>
            <a:r>
              <a:rPr lang="en-US" sz="1000" dirty="0"/>
              <a:t>           1       0.72      0.64      0.68      4052</a:t>
            </a:r>
          </a:p>
          <a:p>
            <a:endParaRPr lang="en-US" sz="1000" dirty="0"/>
          </a:p>
          <a:p>
            <a:r>
              <a:rPr lang="en-US" sz="1000" dirty="0"/>
              <a:t>    accuracy                           0.80     12500</a:t>
            </a:r>
          </a:p>
          <a:p>
            <a:r>
              <a:rPr lang="en-US" sz="1000" dirty="0"/>
              <a:t>   macro avg       0.78      0.76      0.77     12500</a:t>
            </a:r>
          </a:p>
          <a:p>
            <a:r>
              <a:rPr lang="en-US" sz="1000" dirty="0"/>
              <a:t>weighted avg       0.80      0.80      0.80     12500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66A6B3-2A43-123C-1ACF-522D28C9A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SVC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E02B68-8E64-3114-82FC-D7BE036517B1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326036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Accuracy score : 0.77632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[[8448    0]</a:t>
            </a:r>
          </a:p>
          <a:p>
            <a:r>
              <a:rPr lang="en-US" dirty="0"/>
              <a:t> [2796 1256]]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0       0.75      1.00      0.86      8448</a:t>
            </a:r>
          </a:p>
          <a:p>
            <a:r>
              <a:rPr lang="en-US" dirty="0"/>
              <a:t>           1       1.00      0.31      0.47      4052</a:t>
            </a:r>
          </a:p>
          <a:p>
            <a:endParaRPr lang="en-US" dirty="0"/>
          </a:p>
          <a:p>
            <a:r>
              <a:rPr lang="en-US" dirty="0"/>
              <a:t>    accuracy                           0.78     12500</a:t>
            </a:r>
          </a:p>
          <a:p>
            <a:r>
              <a:rPr lang="en-US" dirty="0"/>
              <a:t>   macro avg       0.88      0.65      0.67     12500</a:t>
            </a:r>
          </a:p>
          <a:p>
            <a:r>
              <a:rPr lang="en-US" dirty="0"/>
              <a:t>weighted avg       0.83      0.78      0.73     12500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5B67EC-6A2A-80D3-5688-2809A2F5C1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KNN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D383048-974F-36F2-D89E-94900C0F6D66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326036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Accuracy score : 0.81616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[[7870  578]</a:t>
            </a:r>
          </a:p>
          <a:p>
            <a:r>
              <a:rPr lang="en-US" dirty="0"/>
              <a:t> [1720 2332]]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0       0.82      0.93      0.87      8448</a:t>
            </a:r>
          </a:p>
          <a:p>
            <a:r>
              <a:rPr lang="en-US" dirty="0"/>
              <a:t>           1       0.80      0.58      0.67      4052</a:t>
            </a:r>
          </a:p>
          <a:p>
            <a:endParaRPr lang="en-US" dirty="0"/>
          </a:p>
          <a:p>
            <a:r>
              <a:rPr lang="en-US" dirty="0"/>
              <a:t>    accuracy                           0.82     12500</a:t>
            </a:r>
          </a:p>
          <a:p>
            <a:r>
              <a:rPr lang="en-US" dirty="0"/>
              <a:t>   macro avg       0.81      0.75      0.77     12500</a:t>
            </a:r>
          </a:p>
          <a:p>
            <a:r>
              <a:rPr lang="en-US" dirty="0"/>
              <a:t>weighted avg       0.81      0.82      0.81     12500</a:t>
            </a:r>
          </a:p>
        </p:txBody>
      </p:sp>
    </p:spTree>
    <p:extLst>
      <p:ext uri="{BB962C8B-B14F-4D97-AF65-F5344CB8AC3E}">
        <p14:creationId xmlns:p14="http://schemas.microsoft.com/office/powerpoint/2010/main" val="964144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A0DAE6-5EFE-414F-226C-169BE2221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6" y="3650581"/>
            <a:ext cx="3795252" cy="30922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C92779-6D69-A468-DEBB-F90A1B919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372" y="3650581"/>
            <a:ext cx="3795253" cy="3092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DEB7F8-BCE7-15EB-BEAB-DDDBC4A7A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762" y="3650580"/>
            <a:ext cx="3795252" cy="30922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DCABC6D-4D8F-5A8E-C9C0-0A396F403B1C}"/>
              </a:ext>
            </a:extLst>
          </p:cNvPr>
          <p:cNvSpPr/>
          <p:nvPr/>
        </p:nvSpPr>
        <p:spPr>
          <a:xfrm>
            <a:off x="73742" y="2239297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Logistic Regression</a:t>
            </a:r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406FDF-B53E-CBB2-1303-41128DD03C9F}"/>
              </a:ext>
            </a:extLst>
          </p:cNvPr>
          <p:cNvSpPr/>
          <p:nvPr/>
        </p:nvSpPr>
        <p:spPr>
          <a:xfrm>
            <a:off x="4198375" y="2239296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SVC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578339-E006-DB48-E038-AD3CFA6186E8}"/>
              </a:ext>
            </a:extLst>
          </p:cNvPr>
          <p:cNvSpPr/>
          <p:nvPr/>
        </p:nvSpPr>
        <p:spPr>
          <a:xfrm>
            <a:off x="8323008" y="2239296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KNN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786E84-ABB8-2E28-D0DC-74ADEDF18A83}"/>
              </a:ext>
            </a:extLst>
          </p:cNvPr>
          <p:cNvSpPr/>
          <p:nvPr/>
        </p:nvSpPr>
        <p:spPr>
          <a:xfrm>
            <a:off x="73741" y="149590"/>
            <a:ext cx="12044517" cy="18681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Graphs</a:t>
            </a:r>
          </a:p>
        </p:txBody>
      </p:sp>
    </p:spTree>
    <p:extLst>
      <p:ext uri="{BB962C8B-B14F-4D97-AF65-F5344CB8AC3E}">
        <p14:creationId xmlns:p14="http://schemas.microsoft.com/office/powerpoint/2010/main" val="2200756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C4DE-C7B2-4DAC-05B2-F02F7EE0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Probability based Algorithm(NB)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FC919-9E02-E1F3-514D-957F21DFD5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5" y="2603500"/>
            <a:ext cx="3481054" cy="34163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000"/>
              <a:t>Accuracy score : 0.87808</a:t>
            </a:r>
          </a:p>
          <a:p>
            <a:pPr>
              <a:lnSpc>
                <a:spcPct val="90000"/>
              </a:lnSpc>
            </a:pPr>
            <a:r>
              <a:rPr lang="en-US" sz="1000"/>
              <a:t>Confusion matrix : </a:t>
            </a:r>
          </a:p>
          <a:p>
            <a:pPr>
              <a:lnSpc>
                <a:spcPct val="90000"/>
              </a:lnSpc>
            </a:pPr>
            <a:r>
              <a:rPr lang="en-US" sz="1000"/>
              <a:t>[[8448    0]</a:t>
            </a:r>
          </a:p>
          <a:p>
            <a:pPr>
              <a:lnSpc>
                <a:spcPct val="90000"/>
              </a:lnSpc>
            </a:pPr>
            <a:r>
              <a:rPr lang="en-US" sz="1000"/>
              <a:t> [1524 2528]]</a:t>
            </a:r>
          </a:p>
          <a:p>
            <a:pPr>
              <a:lnSpc>
                <a:spcPct val="90000"/>
              </a:lnSpc>
            </a:pPr>
            <a:r>
              <a:rPr lang="en-US" sz="1000"/>
              <a:t>              precision    recall  f1-score   support</a:t>
            </a:r>
          </a:p>
          <a:p>
            <a:pPr>
              <a:lnSpc>
                <a:spcPct val="90000"/>
              </a:lnSpc>
            </a:pPr>
            <a:endParaRPr lang="en-US" sz="1000"/>
          </a:p>
          <a:p>
            <a:pPr>
              <a:lnSpc>
                <a:spcPct val="90000"/>
              </a:lnSpc>
            </a:pPr>
            <a:r>
              <a:rPr lang="en-US" sz="1000"/>
              <a:t>           0       0.85      1.00      0.92      8448</a:t>
            </a:r>
          </a:p>
          <a:p>
            <a:pPr>
              <a:lnSpc>
                <a:spcPct val="90000"/>
              </a:lnSpc>
            </a:pPr>
            <a:r>
              <a:rPr lang="en-US" sz="1000"/>
              <a:t>           1       1.00      0.62      0.77      4052</a:t>
            </a:r>
          </a:p>
          <a:p>
            <a:pPr>
              <a:lnSpc>
                <a:spcPct val="90000"/>
              </a:lnSpc>
            </a:pPr>
            <a:endParaRPr lang="en-US" sz="1000"/>
          </a:p>
          <a:p>
            <a:pPr>
              <a:lnSpc>
                <a:spcPct val="90000"/>
              </a:lnSpc>
            </a:pPr>
            <a:r>
              <a:rPr lang="en-US" sz="1000"/>
              <a:t>    accuracy                           0.88     12500</a:t>
            </a:r>
          </a:p>
          <a:p>
            <a:pPr>
              <a:lnSpc>
                <a:spcPct val="90000"/>
              </a:lnSpc>
            </a:pPr>
            <a:r>
              <a:rPr lang="en-US" sz="1000"/>
              <a:t>   macro avg       0.92      0.81      0.84     12500</a:t>
            </a:r>
          </a:p>
          <a:p>
            <a:pPr>
              <a:lnSpc>
                <a:spcPct val="90000"/>
              </a:lnSpc>
            </a:pPr>
            <a:r>
              <a:rPr lang="en-US" sz="1000"/>
              <a:t>weighted avg       0.90      0.88      0.87     12500</a:t>
            </a:r>
          </a:p>
          <a:p>
            <a:pPr>
              <a:lnSpc>
                <a:spcPct val="90000"/>
              </a:lnSpc>
            </a:pPr>
            <a:endParaRPr lang="en-US" sz="1000"/>
          </a:p>
        </p:txBody>
      </p:sp>
      <p:pic>
        <p:nvPicPr>
          <p:cNvPr id="6" name="Content Placeholder 5" descr="A comparison of a graph&#10;&#10;AI-generated content may be incorrect.">
            <a:extLst>
              <a:ext uri="{FF2B5EF4-FFF2-40B4-BE49-F238E27FC236}">
                <a16:creationId xmlns:a16="http://schemas.microsoft.com/office/drawing/2014/main" id="{3837F680-8EB6-552A-157A-80955F24C5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97694" y="2775951"/>
            <a:ext cx="5133326" cy="306716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1606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DC8D6-8DA0-CFAE-E5E6-DB845087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Based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592D1-3A49-A3E9-988D-96E037A3C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D11EB-5B17-A120-70CD-F5FC7D550723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Accuracy score : 1.0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[[8448    0]</a:t>
            </a:r>
          </a:p>
          <a:p>
            <a:r>
              <a:rPr lang="en-US" dirty="0"/>
              <a:t> [   0 4052]]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0       1.00      1.00      1.00      8448</a:t>
            </a:r>
          </a:p>
          <a:p>
            <a:r>
              <a:rPr lang="en-US" dirty="0"/>
              <a:t>           1       1.00      1.00      1.00      4052</a:t>
            </a:r>
          </a:p>
          <a:p>
            <a:endParaRPr lang="en-US" dirty="0"/>
          </a:p>
          <a:p>
            <a:r>
              <a:rPr lang="en-US" dirty="0"/>
              <a:t>    accuracy                           1.00     12500</a:t>
            </a:r>
          </a:p>
          <a:p>
            <a:r>
              <a:rPr lang="en-US" dirty="0"/>
              <a:t>   macro avg       1.00      1.00      1.00     12500</a:t>
            </a:r>
          </a:p>
          <a:p>
            <a:r>
              <a:rPr lang="en-US" dirty="0"/>
              <a:t>weighted avg       1.00      1.00      1.00     12500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F55488-01A6-11F3-67D2-C72CEDB97B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4DF529-0A15-631F-678A-F880FED64F34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Accuracy score : 1.0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[[8448    0]</a:t>
            </a:r>
          </a:p>
          <a:p>
            <a:r>
              <a:rPr lang="en-US" dirty="0"/>
              <a:t> [   0 4052]]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0       1.00      1.00      1.00      8448</a:t>
            </a:r>
          </a:p>
          <a:p>
            <a:r>
              <a:rPr lang="en-US" dirty="0"/>
              <a:t>           1       1.00      1.00      1.00      4052</a:t>
            </a:r>
          </a:p>
          <a:p>
            <a:endParaRPr lang="en-US" dirty="0"/>
          </a:p>
          <a:p>
            <a:r>
              <a:rPr lang="en-US" dirty="0"/>
              <a:t>    accuracy                           1.00     12500</a:t>
            </a:r>
          </a:p>
          <a:p>
            <a:r>
              <a:rPr lang="en-US" dirty="0"/>
              <a:t>   macro avg       1.00      1.00      1.00     12500</a:t>
            </a:r>
          </a:p>
          <a:p>
            <a:r>
              <a:rPr lang="en-US" dirty="0"/>
              <a:t>weighted avg       1.00      1.00      1.00     12500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F71B54-6A96-367C-4FE0-203BB0F60E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Adaboost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03324B-494A-B8CF-D474-EB0D75FAD7C4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Accuracy score : 1.0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[[8448    0]</a:t>
            </a:r>
          </a:p>
          <a:p>
            <a:r>
              <a:rPr lang="en-US" dirty="0"/>
              <a:t> [   0 4052]]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0       1.00      1.00      1.00      8448</a:t>
            </a:r>
          </a:p>
          <a:p>
            <a:r>
              <a:rPr lang="en-US" dirty="0"/>
              <a:t>           1       1.00      1.00      1.00      4052</a:t>
            </a:r>
          </a:p>
          <a:p>
            <a:endParaRPr lang="en-US" dirty="0"/>
          </a:p>
          <a:p>
            <a:r>
              <a:rPr lang="en-US" dirty="0"/>
              <a:t>    accuracy                           1.00     12500</a:t>
            </a:r>
          </a:p>
          <a:p>
            <a:r>
              <a:rPr lang="en-US" dirty="0"/>
              <a:t>   macro avg       1.00      1.00      1.00     12500</a:t>
            </a:r>
          </a:p>
          <a:p>
            <a:r>
              <a:rPr lang="en-US" dirty="0"/>
              <a:t>weighted avg       1.00      1.00      1.00     12500</a:t>
            </a:r>
          </a:p>
        </p:txBody>
      </p:sp>
    </p:spTree>
    <p:extLst>
      <p:ext uri="{BB962C8B-B14F-4D97-AF65-F5344CB8AC3E}">
        <p14:creationId xmlns:p14="http://schemas.microsoft.com/office/powerpoint/2010/main" val="41123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A4712-5A58-7FB7-62E3-53BAD605B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79E8C2E-6C07-767B-D748-CE268175B143}"/>
              </a:ext>
            </a:extLst>
          </p:cNvPr>
          <p:cNvSpPr/>
          <p:nvPr/>
        </p:nvSpPr>
        <p:spPr>
          <a:xfrm>
            <a:off x="73743" y="2235433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Decision Tree</a:t>
            </a:r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50DEBE-752F-D568-0006-B2BD490F7573}"/>
              </a:ext>
            </a:extLst>
          </p:cNvPr>
          <p:cNvSpPr/>
          <p:nvPr/>
        </p:nvSpPr>
        <p:spPr>
          <a:xfrm>
            <a:off x="4311444" y="2235432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Random Forest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08E2C4-7251-F4B4-CF38-7207D291241F}"/>
              </a:ext>
            </a:extLst>
          </p:cNvPr>
          <p:cNvSpPr/>
          <p:nvPr/>
        </p:nvSpPr>
        <p:spPr>
          <a:xfrm>
            <a:off x="8323005" y="2235431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Adaboost</a:t>
            </a:r>
            <a:endParaRPr lang="en-US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0220E2-E7FE-0F78-647E-56476B8CF938}"/>
              </a:ext>
            </a:extLst>
          </p:cNvPr>
          <p:cNvSpPr/>
          <p:nvPr/>
        </p:nvSpPr>
        <p:spPr>
          <a:xfrm>
            <a:off x="73742" y="116933"/>
            <a:ext cx="12044517" cy="18681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Graphs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1924E9-E9E0-C656-7E4D-A90F74471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2" y="3648820"/>
            <a:ext cx="3795254" cy="30922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62F80D-BFB3-FBA3-3665-5F5913E60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573" y="3648819"/>
            <a:ext cx="3868993" cy="30922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2D5AB3-CE8F-0BDA-1D93-E5F74C324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004" y="3648818"/>
            <a:ext cx="3795253" cy="309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410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D58E8-7FCE-C8F4-B563-DD35157BA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1F2B4773-3207-44CC-B7AC-892B70498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B8267CA-A7A5-4E11-9D92-4EAC3DD3E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83D61B5-C6B4-4A4B-85AD-FEE7A5491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A0B67FE4-688F-4497-8BFD-157613A69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Rectangle 25">
              <a:extLst>
                <a:ext uri="{FF2B5EF4-FFF2-40B4-BE49-F238E27FC236}">
                  <a16:creationId xmlns:a16="http://schemas.microsoft.com/office/drawing/2014/main" id="{3BF5BE1A-9BAC-4581-A82B-FD8FE3159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971E5644-6772-414A-8199-E30BFB02A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Rectangle 27">
              <a:extLst>
                <a:ext uri="{FF2B5EF4-FFF2-40B4-BE49-F238E27FC236}">
                  <a16:creationId xmlns:a16="http://schemas.microsoft.com/office/drawing/2014/main" id="{E8246D50-BB0C-408E-93FD-7B8D63A7F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28">
              <a:extLst>
                <a:ext uri="{FF2B5EF4-FFF2-40B4-BE49-F238E27FC236}">
                  <a16:creationId xmlns:a16="http://schemas.microsoft.com/office/drawing/2014/main" id="{AFBC5D22-68C1-44FB-8181-CB84ECAA8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Rectangle 29">
              <a:extLst>
                <a:ext uri="{FF2B5EF4-FFF2-40B4-BE49-F238E27FC236}">
                  <a16:creationId xmlns:a16="http://schemas.microsoft.com/office/drawing/2014/main" id="{FB6D0FCE-FBDB-4655-A1A7-640B1E86B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BC8157DF-FD90-4AD6-B803-3AC0ACD8E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3548B067-9D63-4D21-92EF-CBC9E6338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A9157F-D673-1147-3F60-068E97464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>
                <a:solidFill>
                  <a:schemeClr val="bg1"/>
                </a:solidFill>
              </a:rPr>
              <a:t>Gradient boost (Tree based)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26639-BBA7-C64C-91B0-826C47D98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3754" y="2160590"/>
            <a:ext cx="3973943" cy="344011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>
                <a:solidFill>
                  <a:schemeClr val="bg1"/>
                </a:solidFill>
              </a:rPr>
              <a:t>Accuracy score : 1.0</a:t>
            </a: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chemeClr val="bg1"/>
                </a:solidFill>
              </a:rPr>
              <a:t>Confusion matrix : </a:t>
            </a: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chemeClr val="bg1"/>
                </a:solidFill>
              </a:rPr>
              <a:t>[[8448    0]</a:t>
            </a: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chemeClr val="bg1"/>
                </a:solidFill>
              </a:rPr>
              <a:t> [   0 4052]]</a:t>
            </a: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chemeClr val="bg1"/>
                </a:solidFill>
              </a:rPr>
              <a:t>              precision    recall  f1-score   support</a:t>
            </a:r>
          </a:p>
          <a:p>
            <a:pPr>
              <a:lnSpc>
                <a:spcPct val="90000"/>
              </a:lnSpc>
            </a:pPr>
            <a:endParaRPr lang="en-US" sz="11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chemeClr val="bg1"/>
                </a:solidFill>
              </a:rPr>
              <a:t>           0       1.00      1.00      1.00      8448</a:t>
            </a: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chemeClr val="bg1"/>
                </a:solidFill>
              </a:rPr>
              <a:t>           1       1.00      1.00      1.00      4052</a:t>
            </a:r>
          </a:p>
          <a:p>
            <a:pPr>
              <a:lnSpc>
                <a:spcPct val="90000"/>
              </a:lnSpc>
            </a:pPr>
            <a:endParaRPr lang="en-US" sz="11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chemeClr val="bg1"/>
                </a:solidFill>
              </a:rPr>
              <a:t>    accuracy                           1.00     12500</a:t>
            </a: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chemeClr val="bg1"/>
                </a:solidFill>
              </a:rPr>
              <a:t>   macro avg       1.00      1.00      1.00     12500</a:t>
            </a: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chemeClr val="bg1"/>
                </a:solidFill>
              </a:rPr>
              <a:t>weighted avg       1.00      1.00      1.00     12500</a:t>
            </a:r>
          </a:p>
        </p:txBody>
      </p:sp>
      <p:pic>
        <p:nvPicPr>
          <p:cNvPr id="29" name="Content Placeholder 28" descr="A comparison of a graph&#10;&#10;AI-generated content may be incorrect.">
            <a:extLst>
              <a:ext uri="{FF2B5EF4-FFF2-40B4-BE49-F238E27FC236}">
                <a16:creationId xmlns:a16="http://schemas.microsoft.com/office/drawing/2014/main" id="{BFAFA7D3-5DE9-E06F-C2CD-7BD3773C08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1" y="1886122"/>
            <a:ext cx="5143500" cy="3073241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817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B8538-A106-2C60-231A-B3FB99198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1F2B4773-3207-44CC-B7AC-892B70498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B8267CA-A7A5-4E11-9D92-4EAC3DD3E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83D61B5-C6B4-4A4B-85AD-FEE7A5491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23">
              <a:extLst>
                <a:ext uri="{FF2B5EF4-FFF2-40B4-BE49-F238E27FC236}">
                  <a16:creationId xmlns:a16="http://schemas.microsoft.com/office/drawing/2014/main" id="{A0B67FE4-688F-4497-8BFD-157613A69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3" name="Rectangle 25">
              <a:extLst>
                <a:ext uri="{FF2B5EF4-FFF2-40B4-BE49-F238E27FC236}">
                  <a16:creationId xmlns:a16="http://schemas.microsoft.com/office/drawing/2014/main" id="{3BF5BE1A-9BAC-4581-A82B-FD8FE3159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4" name="Isosceles Triangle 73">
              <a:extLst>
                <a:ext uri="{FF2B5EF4-FFF2-40B4-BE49-F238E27FC236}">
                  <a16:creationId xmlns:a16="http://schemas.microsoft.com/office/drawing/2014/main" id="{971E5644-6772-414A-8199-E30BFB02A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5" name="Rectangle 27">
              <a:extLst>
                <a:ext uri="{FF2B5EF4-FFF2-40B4-BE49-F238E27FC236}">
                  <a16:creationId xmlns:a16="http://schemas.microsoft.com/office/drawing/2014/main" id="{E8246D50-BB0C-408E-93FD-7B8D63A7F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6" name="Rectangle 28">
              <a:extLst>
                <a:ext uri="{FF2B5EF4-FFF2-40B4-BE49-F238E27FC236}">
                  <a16:creationId xmlns:a16="http://schemas.microsoft.com/office/drawing/2014/main" id="{AFBC5D22-68C1-44FB-8181-CB84ECAA8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7" name="Rectangle 29">
              <a:extLst>
                <a:ext uri="{FF2B5EF4-FFF2-40B4-BE49-F238E27FC236}">
                  <a16:creationId xmlns:a16="http://schemas.microsoft.com/office/drawing/2014/main" id="{FB6D0FCE-FBDB-4655-A1A7-640B1E86B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BC8157DF-FD90-4AD6-B803-3AC0ACD8E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3548B067-9D63-4D21-92EF-CBC9E6338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9BFF2CD-6CC3-0DA0-8EA4-48A99B063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/>
              <a:t>ANN(Deep learning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B26A3-F238-C138-8BA1-129BBD57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167" y="2160589"/>
            <a:ext cx="3720916" cy="356073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/>
              <a:t>Accuracy score : 0.96328</a:t>
            </a:r>
          </a:p>
          <a:p>
            <a:pPr>
              <a:lnSpc>
                <a:spcPct val="90000"/>
              </a:lnSpc>
            </a:pPr>
            <a:r>
              <a:rPr lang="en-US" sz="1100"/>
              <a:t>Confusion matrix : </a:t>
            </a:r>
          </a:p>
          <a:p>
            <a:pPr>
              <a:lnSpc>
                <a:spcPct val="90000"/>
              </a:lnSpc>
            </a:pPr>
            <a:r>
              <a:rPr lang="en-US" sz="1100"/>
              <a:t>[[8434   14]</a:t>
            </a:r>
          </a:p>
          <a:p>
            <a:pPr>
              <a:lnSpc>
                <a:spcPct val="90000"/>
              </a:lnSpc>
            </a:pPr>
            <a:r>
              <a:rPr lang="en-US" sz="1100"/>
              <a:t> [ 445 3607]]</a:t>
            </a:r>
          </a:p>
          <a:p>
            <a:pPr>
              <a:lnSpc>
                <a:spcPct val="90000"/>
              </a:lnSpc>
            </a:pPr>
            <a:r>
              <a:rPr lang="en-US" sz="1100"/>
              <a:t>              precision    recall  f1-score   support</a:t>
            </a:r>
          </a:p>
          <a:p>
            <a:pPr>
              <a:lnSpc>
                <a:spcPct val="90000"/>
              </a:lnSpc>
            </a:pPr>
            <a:endParaRPr lang="en-US" sz="1100"/>
          </a:p>
          <a:p>
            <a:pPr>
              <a:lnSpc>
                <a:spcPct val="90000"/>
              </a:lnSpc>
            </a:pPr>
            <a:r>
              <a:rPr lang="en-US" sz="1100"/>
              <a:t>           0       0.95      1.00      0.97      8448</a:t>
            </a:r>
          </a:p>
          <a:p>
            <a:pPr>
              <a:lnSpc>
                <a:spcPct val="90000"/>
              </a:lnSpc>
            </a:pPr>
            <a:r>
              <a:rPr lang="en-US" sz="1100"/>
              <a:t>           1       1.00      0.89      0.94      4052</a:t>
            </a:r>
          </a:p>
          <a:p>
            <a:pPr>
              <a:lnSpc>
                <a:spcPct val="90000"/>
              </a:lnSpc>
            </a:pPr>
            <a:endParaRPr lang="en-US" sz="1100"/>
          </a:p>
          <a:p>
            <a:pPr>
              <a:lnSpc>
                <a:spcPct val="90000"/>
              </a:lnSpc>
            </a:pPr>
            <a:r>
              <a:rPr lang="en-US" sz="1100"/>
              <a:t>    accuracy                           0.96     12500</a:t>
            </a:r>
          </a:p>
          <a:p>
            <a:pPr>
              <a:lnSpc>
                <a:spcPct val="90000"/>
              </a:lnSpc>
            </a:pPr>
            <a:r>
              <a:rPr lang="en-US" sz="1100"/>
              <a:t>   macro avg       0.97      0.94      0.96     12500</a:t>
            </a:r>
          </a:p>
          <a:p>
            <a:pPr>
              <a:lnSpc>
                <a:spcPct val="90000"/>
              </a:lnSpc>
            </a:pPr>
            <a:r>
              <a:rPr lang="en-US" sz="1100"/>
              <a:t>weighted avg       0.96      0.96      0.96     12500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4F7C933-FE48-55AD-0912-090CB61824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54035" y="1632857"/>
            <a:ext cx="5611194" cy="382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49167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</TotalTime>
  <Words>616</Words>
  <Application>Microsoft Office PowerPoint</Application>
  <PresentationFormat>Widescreen</PresentationFormat>
  <Paragraphs>137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Fraud Detection</vt:lpstr>
      <vt:lpstr>Features &amp; their correlation</vt:lpstr>
      <vt:lpstr>Distance Based Algorithms</vt:lpstr>
      <vt:lpstr>PowerPoint Presentation</vt:lpstr>
      <vt:lpstr>Probability based Algorithm(NB)</vt:lpstr>
      <vt:lpstr>Tree Based Algorithms</vt:lpstr>
      <vt:lpstr>PowerPoint Presentation</vt:lpstr>
      <vt:lpstr>Gradient boost (Tree based)</vt:lpstr>
      <vt:lpstr>ANN(Deep learning model)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Utsav Utsav</dc:creator>
  <cp:lastModifiedBy>Utsav Kundu</cp:lastModifiedBy>
  <cp:revision>17</cp:revision>
  <dcterms:created xsi:type="dcterms:W3CDTF">2025-10-22T21:52:15Z</dcterms:created>
  <dcterms:modified xsi:type="dcterms:W3CDTF">2025-10-23T22:06:51Z</dcterms:modified>
</cp:coreProperties>
</file>